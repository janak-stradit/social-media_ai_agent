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" dt="2026-08-14T12:43:39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ak Panchal" userId="S::janak@stradit.com::86f53ce7-55e5-48fd-988c-76e5fd2e3024" providerId="AD" clId="Web-{00000000-0000-0000-0000-000000000000}"/>
    <pc:docChg chg="modSld">
      <pc:chgData name="Janak Panchal" userId="S::janak@stradit.com::86f53ce7-55e5-48fd-988c-76e5fd2e3024" providerId="AD" clId="Web-{00000000-0000-0000-0000-000000000000}" dt="2026-08-14T12:43:39.053" v="2" actId="1076"/>
      <pc:docMkLst>
        <pc:docMk/>
      </pc:docMkLst>
      <pc:sldChg chg="modSp">
        <pc:chgData name="Janak Panchal" userId="S::janak@stradit.com::86f53ce7-55e5-48fd-988c-76e5fd2e3024" providerId="AD" clId="Web-{00000000-0000-0000-0000-000000000000}" dt="2026-08-14T12:43:39.053" v="2" actId="1076"/>
        <pc:sldMkLst>
          <pc:docMk/>
          <pc:sldMk cId="0" sldId="263"/>
        </pc:sldMkLst>
        <pc:spChg chg="mod">
          <ac:chgData name="Janak Panchal" userId="S::janak@stradit.com::86f53ce7-55e5-48fd-988c-76e5fd2e3024" providerId="AD" clId="Web-{00000000-0000-0000-0000-000000000000}" dt="2026-08-14T12:43:39.053" v="2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Janak Panchal" userId="S::janak@stradit.com::86f53ce7-55e5-48fd-988c-76e5fd2e3024" providerId="AD" clId="Web-{00000000-0000-0000-0000-000000000000}" dt="2026-08-14T12:42:43.193" v="1" actId="1076"/>
          <ac:spMkLst>
            <pc:docMk/>
            <pc:sldMk cId="0" sldId="263"/>
            <ac:spMk id="2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99999"/>
                </a:solidFill>
                <a:latin typeface="Calibri"/>
              </a:defRPr>
            </a:pPr>
            <a:r>
              <a:t>client onboarding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1A1A"/>
                </a:solidFill>
                <a:latin typeface="Calibri"/>
              </a:defRPr>
            </a:pPr>
            <a:r>
              <a:t>Pershing Onboarding: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666666"/>
                </a:solidFill>
                <a:latin typeface="Calibri"/>
              </a:defRPr>
            </a:pPr>
            <a:r>
              <a:t>A configuration problem presenting as a capacity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  <a:latin typeface="Calibri"/>
              </a:defRPr>
            </a:pPr>
            <a:r>
              <a:t>Systematic analysis of bottlenecks, operating model gaps, and a sequenced response across four workstreams.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2286000" cy="10972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150+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customers onboarding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3200400"/>
            <a:ext cx="2286000" cy="10972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40%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manual channel share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3200400"/>
            <a:ext cx="2286000" cy="10972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90/10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mandated vs optional fields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200400"/>
            <a:ext cx="2286000" cy="10972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1–2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pods vs 150+ clients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0972800" cy="640080"/>
          </a:xfrm>
          <a:prstGeom prst="roundRect">
            <a:avLst/>
          </a:prstGeom>
          <a:solidFill>
            <a:srgbClr val="E8F0FA"/>
          </a:solidFill>
          <a:ln w="12700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defRPr sz="1300" b="1">
                <a:solidFill>
                  <a:srgbClr val="2E5EAA"/>
                </a:solidFill>
                <a:latin typeface="Calibri"/>
              </a:defRPr>
            </a:pPr>
            <a:r>
              <a:t>"Adding pods treats the symptom. The 90/10 mandated-field ratio and the absence of templating are the cause."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What we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Configuration is the bottleneck. With 90 of ~100 fields mandated, every client setup is near-bespoke.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Manual work dominates. 40% of volume is manual; only 20% runs straight-through via API.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Capacity is fixed, demand is not. 1–2 centrally funded pods serve 150+ clients, creating queues.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No traceability or control point. Nobody knows who did what; no single checkpoint exists.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What we recommend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2860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First: Audit and template — establish traceability and client archetypes.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Then: Automate manual steps with digital workers (human review on exceptions only).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Finally: Shift volume to API via counterparty onboarding kits.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Confidence levels:  High  |  Medium  |  Needs confirmation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Calibri"/>
              </a:defRPr>
            </a:pPr>
            <a:r>
              <a:t>The Core Problem: Configuration Hell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10058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~100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total fields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1097280"/>
            <a:ext cx="2286000" cy="10058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90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mandated fields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097280"/>
            <a:ext cx="2286000" cy="10058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10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optional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10972800" cy="731520"/>
          </a:xfrm>
          <a:prstGeom prst="roundRect">
            <a:avLst/>
          </a:prstGeom>
          <a:solidFill>
            <a:srgbClr val="E8F0FA"/>
          </a:solidFill>
          <a:ln w="12700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defRPr sz="1300" b="1">
                <a:solidFill>
                  <a:srgbClr val="2E5EAA"/>
                </a:solidFill>
                <a:latin typeface="Calibri"/>
              </a:defRPr>
            </a:pPr>
            <a:r>
              <a:t>Extreme rigidity means almost no room to vary a setup without manual intervention. Every one of 150+ client onboardings becomes near-bespoke.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1A"/>
                </a:solidFill>
                <a:latin typeface="Calibri"/>
              </a:defRPr>
            </a:pPr>
            <a:r>
              <a:t>The causal chain (as drawn by the client)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complexity  →  configuration burden  →  turnover / churn  →  per-client config  →  defaults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999999"/>
                </a:solidFill>
                <a:latin typeface="Calibri"/>
              </a:defRPr>
            </a:pPr>
            <a:r>
              <a:t>Each new client is configured from something close to scratch. No inherited defaults. No templating.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Calibri"/>
              </a:defRPr>
            </a:pPr>
            <a:r>
              <a:t>The Three Stated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999999"/>
                </a:solidFill>
                <a:latin typeface="Calibri"/>
              </a:defRPr>
            </a:pPr>
            <a:r>
              <a:t>This is the client's own summary, written in their words. It should anchor the pitch.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0972800" cy="12801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1. No traceability — who did what</a:t>
            </a:r>
          </a:p>
          <a:p>
            <a:pPr>
              <a:spcBef>
                <a:spcPts val="600"/>
              </a:spcBef>
              <a:defRPr sz="1200">
                <a:solidFill>
                  <a:srgbClr val="666666"/>
                </a:solidFill>
                <a:latin typeface="Calibri"/>
              </a:defRPr>
            </a:pPr>
            <a:r>
              <a:t>Onboarding today has no reliable record of who performed which action. When something goes wrong, there is no audit trail to reconstruct the sequence of events.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10972800" cy="12801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2. Time constraints driven by manual steps</a:t>
            </a:r>
          </a:p>
          <a:p>
            <a:pPr>
              <a:spcBef>
                <a:spcPts val="600"/>
              </a:spcBef>
              <a:defRPr sz="1200">
                <a:solidFill>
                  <a:srgbClr val="666666"/>
                </a:solidFill>
                <a:latin typeface="Calibri"/>
              </a:defRPr>
            </a:pPr>
            <a:r>
              <a:t>The process is paced by human throughput, not system capacity. Manual data entry, validation, and hand-offs create delays that scale linearly with volume.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10972800" cy="12801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3. No clear control point; no templating</a:t>
            </a:r>
          </a:p>
          <a:p>
            <a:pPr>
              <a:spcBef>
                <a:spcPts val="600"/>
              </a:spcBef>
              <a:defRPr sz="1200">
                <a:solidFill>
                  <a:srgbClr val="666666"/>
                </a:solidFill>
                <a:latin typeface="Calibri"/>
              </a:defRPr>
            </a:pPr>
            <a:r>
              <a:t>There is no single defined checkpoint where work is checked and released. The absence of templating is what keeps all three problems in place — every client starts from scratch.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Calibri"/>
              </a:defRPr>
            </a:pPr>
            <a:r>
              <a:t>Operating Model Mismatch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Current state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286000" cy="914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1–2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pods (teams)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554480"/>
            <a:ext cx="2286000" cy="914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150+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clients 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Central funding from a fixed tech budget — not per-client.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Pods spend time on incident remediation, not smooth onboarding.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Clients wait in queues because capacity does not flex with demand.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The queue lengthens rather than capacity adjusting.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554480"/>
            <a:ext cx="5303520" cy="914400"/>
          </a:xfrm>
          <a:prstGeom prst="roundRect">
            <a:avLst/>
          </a:prstGeom>
          <a:solidFill>
            <a:srgbClr val="E8F0FA"/>
          </a:solidFill>
          <a:ln w="12700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defRPr sz="1300" b="1">
                <a:solidFill>
                  <a:srgbClr val="2E5EAA"/>
                </a:solidFill>
                <a:latin typeface="Calibri"/>
              </a:defRPr>
            </a:pPr>
            <a:r>
              <a:t>A capacity and funding-model mismatch. Because funding is central rather than per-client, pod capacity is fixed against demand that isn't.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6517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The organisational response so far has been to add pods from a central budget. With 1–2 pods against 150+ clients, remediation queues and clients wait — which is the loop the client themselves drew.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Calibri"/>
              </a:defRPr>
            </a:pPr>
            <a:r>
              <a:t>Channel Mix &amp; Volume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560320" cy="10058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3–5M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volume / month (unit tbd)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097280"/>
            <a:ext cx="2560320" cy="10058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30–40%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conversion on new business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097280"/>
            <a:ext cx="2560320" cy="10058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90/10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Pershing / other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Channel breakdown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2743200" cy="502920"/>
          </a:xfrm>
          <a:prstGeom prst="rect">
            <a:avLst/>
          </a:prstGeom>
          <a:solidFill>
            <a:srgbClr val="1A1A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Channel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743200"/>
            <a:ext cx="1371600" cy="502920"/>
          </a:xfrm>
          <a:prstGeom prst="rect">
            <a:avLst/>
          </a:prstGeom>
          <a:solidFill>
            <a:srgbClr val="1A1A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Share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743200"/>
            <a:ext cx="6400800" cy="502920"/>
          </a:xfrm>
          <a:prstGeom prst="rect">
            <a:avLst/>
          </a:prstGeom>
          <a:solidFill>
            <a:srgbClr val="1A1A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Notes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27432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246120"/>
            <a:ext cx="13716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43E3E"/>
                </a:solidFill>
                <a:latin typeface="Calibri"/>
              </a:defRPr>
            </a:pPr>
            <a:r>
              <a:t>~40%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246120"/>
            <a:ext cx="64008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Largest share; cost scales with headcount; most expensive path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49040"/>
            <a:ext cx="2743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API (straight-through)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3749040"/>
            <a:ext cx="1371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E8E5E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749040"/>
            <a:ext cx="6400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Ideal path; wants to grow this share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51960"/>
            <a:ext cx="27432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Unaccounted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4251960"/>
            <a:ext cx="13716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87A2A"/>
                </a:solidFill>
                <a:latin typeface="Calibri"/>
              </a:defRPr>
            </a:pPr>
            <a:r>
              <a:t>~40%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4251960"/>
            <a:ext cx="64008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Missing from notes — needs channel instrumentation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Special flows:  IRA (500)  |  MCOB funds  —  Separate flows with distinct compliance treatment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Calibri"/>
              </a:defRPr>
            </a:pPr>
            <a:r>
              <a:t>Root Cause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Symptoms (what hurts now)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3035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8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Manual work dominates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Calibri"/>
              </a:defRPr>
            </a:pPr>
            <a:r>
              <a:t>40% of volume handled by hand. 3–5M/month at this ratio sets a high cost 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39"/>
            <a:ext cx="53035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8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Pods are overwhelmed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Calibri"/>
              </a:defRPr>
            </a:pPr>
            <a:r>
              <a:t>1–2 teams cannot keep up with 150+ clients. Remediation queues grow.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53035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8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Low conversion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Calibri"/>
              </a:defRPr>
            </a:pPr>
            <a:r>
              <a:t>Only 30–40% of new/inclusive business completes onboarding. High drop-off.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Root causes (why it hurts)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554480"/>
            <a:ext cx="53035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90 mandated / 10 optional fields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Calibri"/>
              </a:defRPr>
            </a:pPr>
            <a:r>
              <a:t>The extreme rigidity forces bespoke configuration. No two clients can share a template.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834639"/>
            <a:ext cx="53035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No templating or inherited defaults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Calibri"/>
              </a:defRPr>
            </a:pPr>
            <a:r>
              <a:t>Every client is configured from scratch. No archetypes, no delta-configuration.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4114800"/>
            <a:ext cx="53035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Central funding, fixed capacity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Calibri"/>
              </a:defRPr>
            </a:pPr>
            <a:r>
              <a:t>The operating model cannot flex. Demand grows; supply stays flat.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2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Calibri"/>
              </a:defRPr>
            </a:pPr>
            <a:r>
              <a:t>Solution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926080" cy="62179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tlCol="0" anchor="ctr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No traceability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1005840"/>
            <a:ext cx="5303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tlCol="0" anchor="ctr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Audit-logged workflow — actor, timestamp, field-level change history on every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1005840"/>
            <a:ext cx="2560320" cy="621792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000" b="1">
                <a:solidFill>
                  <a:srgbClr val="2E5EAA"/>
                </a:solidFill>
                <a:latin typeface="Calibri"/>
              </a:defRPr>
            </a:pPr>
            <a:r>
              <a:t>Applied AI + Data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27632"/>
            <a:ext cx="2926080" cy="62179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tlCol="0" anchor="ctr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Manual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627632"/>
            <a:ext cx="5303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tlCol="0" anchor="ctr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Digital worker for intake, extraction, validation; human review on exceptions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627632"/>
            <a:ext cx="2560320" cy="621792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000" b="1">
                <a:solidFill>
                  <a:srgbClr val="3E8E5E"/>
                </a:solidFill>
                <a:latin typeface="Calibri"/>
              </a:defRPr>
            </a:pPr>
            <a:r>
              <a:t>Digital Worker Factory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9424"/>
            <a:ext cx="2926080" cy="62179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tlCol="0" anchor="ctr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No control 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249424"/>
            <a:ext cx="5303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tlCol="0" anchor="ctr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Single gated checkpoint with defined approval criteria, instrumented for cycle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2249424"/>
            <a:ext cx="2560320" cy="621792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000" b="1">
                <a:solidFill>
                  <a:srgbClr val="2E5EAA"/>
                </a:solidFill>
                <a:latin typeface="Calibri"/>
              </a:defRPr>
            </a:pPr>
            <a:r>
              <a:t>Applied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71216"/>
            <a:ext cx="2926080" cy="62179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tlCol="0" anchor="ctr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No templating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871216"/>
            <a:ext cx="5303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tlCol="0" anchor="ctr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Client archetype templates with inherited defaults — configure the delta, not the whole record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2871216"/>
            <a:ext cx="2560320" cy="621792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000" b="1">
                <a:solidFill>
                  <a:srgbClr val="2E5EAA"/>
                </a:solidFill>
                <a:latin typeface="Calibri"/>
              </a:defRPr>
            </a:pPr>
            <a:r>
              <a:t>Applied AI + Cloud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93008"/>
            <a:ext cx="2926080" cy="62179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tlCol="0" anchor="ctr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90/10 field split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3493008"/>
            <a:ext cx="5303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tlCol="0" anchor="ctr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Field-necessity review: separate regulatory mandates from legacy ones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3493008"/>
            <a:ext cx="2560320" cy="621792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000" b="1">
                <a:solidFill>
                  <a:srgbClr val="B87A2A"/>
                </a:solidFill>
                <a:latin typeface="Calibri"/>
              </a:defRPr>
            </a:pPr>
            <a:r>
              <a:t>Data Analytics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2926080" cy="62179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tlCol="0" anchor="ctr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Low API adoption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4114800"/>
            <a:ext cx="5303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tlCol="0" anchor="ctr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Counterparty API onboarding kits to shift volume off manual path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4114800"/>
            <a:ext cx="2560320" cy="621792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000" b="1">
                <a:solidFill>
                  <a:srgbClr val="666666"/>
                </a:solidFill>
                <a:latin typeface="Calibri"/>
              </a:defRPr>
            </a:pPr>
            <a:r>
              <a:t>Cloud &amp; Infrastructure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36592"/>
            <a:ext cx="2926080" cy="62179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tlCol="0" anchor="ctr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Pods overwhelmed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4736592"/>
            <a:ext cx="5303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tlCol="0" anchor="ctr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Automated remediation triage so human time goes to genuine exceptions 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4736592"/>
            <a:ext cx="2560320" cy="621792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000" b="1">
                <a:solidFill>
                  <a:srgbClr val="3E8E5E"/>
                </a:solidFill>
                <a:latin typeface="Calibri"/>
              </a:defRPr>
            </a:pPr>
            <a:r>
              <a:t>Digital Worker + AI Testing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58384"/>
            <a:ext cx="2926080" cy="62179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tlCol="0" anchor="ctr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Platform downtime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5358384"/>
            <a:ext cx="5303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tlCol="0" anchor="ctr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Resilience and failover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5358384"/>
            <a:ext cx="2560320" cy="621792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000" b="1">
                <a:solidFill>
                  <a:srgbClr val="666666"/>
                </a:solidFill>
                <a:latin typeface="Calibri"/>
              </a:defRPr>
            </a:pPr>
            <a:r>
              <a:t>Cloud &amp; Infrastructure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85800"/>
            <a:ext cx="2926080" cy="320040"/>
          </a:xfrm>
          <a:prstGeom prst="rect">
            <a:avLst/>
          </a:prstGeom>
          <a:solidFill>
            <a:srgbClr val="1A1A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685800"/>
            <a:ext cx="5303520" cy="320040"/>
          </a:xfrm>
          <a:prstGeom prst="rect">
            <a:avLst/>
          </a:prstGeom>
          <a:solidFill>
            <a:srgbClr val="1A1A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Response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685800"/>
            <a:ext cx="2560320" cy="320040"/>
          </a:xfrm>
          <a:prstGeom prst="rect">
            <a:avLst/>
          </a:prstGeom>
          <a:solidFill>
            <a:srgbClr val="1A1A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Delivery Vehicle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Calibri"/>
              </a:defRPr>
            </a:pPr>
            <a:r>
              <a:t>Recommended Sequencing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Traceability and templating come first. Both are prerequisites for automating anything safely.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1A"/>
                </a:solidFill>
                <a:latin typeface="Calibri"/>
              </a:defRPr>
            </a:pPr>
            <a:r>
              <a:t>Traceability + templating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Establish audit-logged workflows and client archetype templates. You cannot automate a process you cannot audit, and you cannot template until you know which fields genuinely need to be mandated.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606040"/>
            <a:ext cx="457200" cy="4572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1A"/>
                </a:solidFill>
                <a:latin typeface="Calibri"/>
              </a:defRPr>
            </a:pPr>
            <a:r>
              <a:t>Field-necessity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Separate regulatory mandates from legacy ones. Usually a meaningful share is the latter. Reducing the mandated set unlocks delta-configuration.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794759"/>
            <a:ext cx="457200" cy="4572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1A"/>
                </a:solidFill>
                <a:latin typeface="Calibri"/>
              </a:defRPr>
            </a:pPr>
            <a:r>
              <a:t>Automation of manual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6907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Digital workers for intake, extraction, and validation. Human review reserved for true exceptions only. This is where the volume shift happens.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7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983480"/>
            <a:ext cx="457200" cy="4572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1A"/>
                </a:solidFill>
                <a:latin typeface="Calibri"/>
              </a:defRPr>
            </a:pPr>
            <a:r>
              <a:t>API adoption + channel shift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257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Counterparty onboarding kits to push volume from manual to straight-through. Instrument and baseline before scoping.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48640"/>
          </a:xfrm>
          <a:prstGeom prst="roundRect">
            <a:avLst/>
          </a:prstGeom>
          <a:solidFill>
            <a:srgbClr val="E8F0FA"/>
          </a:solidFill>
          <a:ln w="12700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defRPr sz="1300" b="1">
                <a:solidFill>
                  <a:srgbClr val="2E5EAA"/>
                </a:solidFill>
                <a:latin typeface="Calibri"/>
              </a:defRPr>
            </a:pPr>
            <a:r>
              <a:t>This ordering gives a visible win inside a single budget cycle — critical when funding is central and contested.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Calibri"/>
              </a:defRPr>
            </a:pPr>
            <a:r>
              <a:t>Open Items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Still to confirm before this is client-facing: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7320"/>
            <a:ext cx="164592" cy="164592"/>
          </a:xfrm>
          <a:prstGeom prst="ellipse">
            <a:avLst/>
          </a:prstGeom>
          <a:solidFill>
            <a:srgbClr val="B87A2A"/>
          </a:solidFill>
          <a:ln>
            <a:solidFill>
              <a:srgbClr val="B8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Volume unit: What is the unit for '3–5M/month'? Transactions, records, or accounts?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920239"/>
            <a:ext cx="164592" cy="164592"/>
          </a:xfrm>
          <a:prstGeom prst="ellipse">
            <a:avLst/>
          </a:prstGeom>
          <a:solidFill>
            <a:srgbClr val="B87A2A"/>
          </a:solidFill>
          <a:ln>
            <a:solidFill>
              <a:srgbClr val="B8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Missing channel mix: The stated splits total ~60%. What is the remaining ~40%?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423160"/>
            <a:ext cx="164592" cy="164592"/>
          </a:xfrm>
          <a:prstGeom prst="ellipse">
            <a:avLst/>
          </a:prstGeom>
          <a:solidFill>
            <a:srgbClr val="B87A2A"/>
          </a:solidFill>
          <a:ln>
            <a:solidFill>
              <a:srgbClr val="B8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'14 → Wealth': Does this refer to a business line or a headcount figure?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926080"/>
            <a:ext cx="164592" cy="164592"/>
          </a:xfrm>
          <a:prstGeom prst="ellipse">
            <a:avLst/>
          </a:prstGeom>
          <a:solidFill>
            <a:srgbClr val="B87A2A"/>
          </a:solidFill>
          <a:ln>
            <a:solidFill>
              <a:srgbClr val="B8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Names on page 2: 'Sam N—' and '—L Green' need verification.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429000"/>
            <a:ext cx="164592" cy="164592"/>
          </a:xfrm>
          <a:prstGeom prst="ellipse">
            <a:avLst/>
          </a:prstGeom>
          <a:solidFill>
            <a:srgbClr val="B87A2A"/>
          </a:solidFill>
          <a:ln>
            <a:solidFill>
              <a:srgbClr val="B8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MCOB funds: Confirm handling requirements and regulatory treatment.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Suggested deliverables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53035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Executive deck</a:t>
            </a:r>
          </a:p>
          <a:p>
            <a:pPr>
              <a:spcBef>
                <a:spcPts val="600"/>
              </a:spcBef>
              <a:defRPr sz="1200">
                <a:solidFill>
                  <a:srgbClr val="666666"/>
                </a:solidFill>
                <a:latin typeface="Calibri"/>
              </a:defRPr>
            </a:pPr>
            <a:r>
              <a:t>Three problems → sequenced response. Best artifact for the onboarding leader.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572000"/>
            <a:ext cx="53035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Phasing tracker</a:t>
            </a:r>
          </a:p>
          <a:p>
            <a:pPr>
              <a:spcBef>
                <a:spcPts val="600"/>
              </a:spcBef>
              <a:defRPr sz="1200">
                <a:solidFill>
                  <a:srgbClr val="666666"/>
                </a:solidFill>
                <a:latin typeface="Calibri"/>
              </a:defRPr>
            </a:pPr>
            <a:r>
              <a:t>Excel with phases, owners, and confidence levels for delivery team handoff.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</cp:revision>
  <dcterms:created xsi:type="dcterms:W3CDTF">2013-01-27T09:14:16Z</dcterms:created>
  <dcterms:modified xsi:type="dcterms:W3CDTF">2026-08-14T12:43:39Z</dcterms:modified>
  <cp:category/>
</cp:coreProperties>
</file>