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client onboarding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1A"/>
                </a:solidFill>
                <a:latin typeface="Calibri"/>
              </a:defRPr>
            </a:pPr>
            <a:r>
              <a:t>Pershing Onboarding: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A configuration problem presenting as a capacity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Systematic analysis of bottlenecks, operating model gaps, and a sequenced response across four workstreams.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150+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customers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40%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manual channel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90/10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mandated vs optional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00400"/>
            <a:ext cx="22860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1–2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pods vs 150+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64008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"Adding pods treats the symptom. The 90/10 mandated-field ratio and the absence of templating are the cause."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Configuration is the bottleneck. With 90 of ~100 fields mandated, every client setup is near-bespoke.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Manual work dominates. 40% of volume is manual; only 20% runs straight-through via API.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Capacity is fixed, demand is not. 1–2 centrally funded pods serve 150+ clients, creating queues.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No traceability or control point. Nobody knows who did what; no single checkpoint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What we recommend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First: Audit and template — establish traceability and client archetypes.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Then: Automate manual steps with digital workers (human review on exceptions only).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Finally: Shift volume to API via counterparty onboarding kits.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The Core Problem: Configuration Hell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~100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total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097280"/>
            <a:ext cx="228600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90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mandated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97280"/>
            <a:ext cx="228600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optional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0972800" cy="73152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Extreme rigidity means almost no room to vary a setup without manual intervention. Every one of 150+ client onboardings becomes near-bespoke.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1A"/>
                </a:solidFill>
                <a:latin typeface="Calibri"/>
              </a:defRPr>
            </a:pPr>
            <a:r>
              <a:t>The causal chain (as drawn by the 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complexity  →  configuration burden  →  turnover / churn  →  per-client config  →  defaults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99999"/>
                </a:solidFill>
                <a:latin typeface="Calibri"/>
              </a:defRPr>
            </a:pPr>
            <a:r>
              <a:t>Each new client is configured from something close to scratch. No inherited defaults. No templating.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The Three Stated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99999"/>
                </a:solidFill>
                <a:latin typeface="Calibri"/>
              </a:defRPr>
            </a:pPr>
            <a:r>
              <a:t>This is the client's own summary, written in their words. It should anchor the pitch.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1. No traceability — who did what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Onboarding today has no reliable record of who performed which action. When something goes wrong, there is no audit trail to reconstruct the sequence of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097280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2. Time constraints driven by manual steps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The process is paced by human throughput, not system capacity. Manual data entry, validation, and hand-offs create delays that scale linearly with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10972800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3. No clear control point; no templating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There is no single defined checkpoint where work is checked and released. The absence of templating is what keeps all three problems in place — every client starts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Operating Model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286000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1–2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pods (teams)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554480"/>
            <a:ext cx="2286000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150+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clients 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Central funding from a fixed tech budget — not per-client.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Pods spend time on incident remediation, not smooth onboarding.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Clients wait in queues because capacity does not flex with demand.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The queue lengthens rather than capacity adjusting.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303520" cy="91440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A capacity and funding-model mismatch. Because funding is central rather than per-client, pod capacity is fixed against demand that isn't.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6517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The organisational response so far has been to add pods from a central budget. With 1–2 pods against 150+ clients, remediation queues and clients wait — which is the loop the client themselves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Channel Mix &amp; Volume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3–5M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volume / month (unit tbd)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256032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30–40%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conversion on new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2560320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A1A1A"/>
                </a:solidFill>
                <a:latin typeface="Calibri"/>
              </a:defRPr>
            </a:pPr>
            <a:r>
              <a:t>90/10</a:t>
            </a:r>
          </a:p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Pershing / other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Channel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2743200" cy="50292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743200"/>
            <a:ext cx="1371600" cy="50292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6400800" cy="50292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2743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246120"/>
            <a:ext cx="13716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43E3E"/>
                </a:solidFill>
                <a:latin typeface="Calibri"/>
              </a:defRPr>
            </a:pPr>
            <a:r>
              <a:t>~40%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246120"/>
            <a:ext cx="6400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Largest share; cost scales with headcount; most expensive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API (straight-through)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74904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E8E5E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749040"/>
            <a:ext cx="6400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Ideal path; wants to grow this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27432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Unaccounted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251960"/>
            <a:ext cx="13716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87A2A"/>
                </a:solidFill>
                <a:latin typeface="Calibri"/>
              </a:defRPr>
            </a:pPr>
            <a:r>
              <a:t>~40%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251960"/>
            <a:ext cx="6400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Missing from notes — needs channel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Special flows:  IRA (500)  |  MCOB funds  —  Separate flows with distinct compliance treatment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Symptoms (what hurts now)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Manual work dominates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40% of volume handled by hand. 3–5M/month at this ratio sets a high cost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39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Pods are overwhelmed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1–2 teams cannot keep up with 150+ clients. Remediation queues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Low conversion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Only 30–40% of new/inclusive business completes onboarding. High drop-off.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Root causes (why it hurts)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90 mandated / 10 optional fields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The extreme rigidity forces bespoke configuration. No two clients can share a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34639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No templating or inherited defaults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Every client is configured from scratch. No archetypes, no delta-configuration.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1148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Central funding, fixed capacity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The operating model cannot flex. Demand grows; supply stays flat.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Solution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926080" cy="32004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685800"/>
            <a:ext cx="5303520" cy="32004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685800"/>
            <a:ext cx="2560320" cy="32004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Delivery Vehicle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No traceability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05840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Audit-logged workflow — actor, timestamp, field-level change history on every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005840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2E5EAA"/>
                </a:solidFill>
                <a:latin typeface="Calibri"/>
              </a:defRPr>
            </a:pPr>
            <a:r>
              <a:t>Applied AI + Data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Manual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27632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Digital worker for intake, extraction, validation; human review on exceptions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627632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3E8E5E"/>
                </a:solidFill>
                <a:latin typeface="Calibri"/>
              </a:defRPr>
            </a:pPr>
            <a:r>
              <a:t>Digital Worker Factory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9424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No control 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49424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Single gated checkpoint with defined approval criteria, instrumented for cycle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249424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2E5EAA"/>
                </a:solidFill>
                <a:latin typeface="Calibri"/>
              </a:defRPr>
            </a:pPr>
            <a:r>
              <a:t>Applied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No templating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871216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Client archetype templates with inherited defaults — configure the delta, not the whole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871216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2E5EAA"/>
                </a:solidFill>
                <a:latin typeface="Calibri"/>
              </a:defRPr>
            </a:pPr>
            <a:r>
              <a:t>Applied AI +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90/10 field split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493008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Field-necessity review: separate regulatory mandates from legacy 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493008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B87A2A"/>
                </a:solidFill>
                <a:latin typeface="Calibri"/>
              </a:defRPr>
            </a:pPr>
            <a:r>
              <a:t>Data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Low API adoption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114800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Counterparty API onboarding kits to shift volume off manual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114800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Cloud &amp; Infrastructure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36592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Pods overwhelmed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736592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Automated remediation triage so human time goes to genuine exceptions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4736592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3E8E5E"/>
                </a:solidFill>
                <a:latin typeface="Calibri"/>
              </a:defRPr>
            </a:pPr>
            <a:r>
              <a:t>Digital Worker + AI 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58384"/>
            <a:ext cx="2926080" cy="62179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Platform downtime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5358384"/>
            <a:ext cx="5303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Resilience and failover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5358384"/>
            <a:ext cx="2560320" cy="621792"/>
          </a:xfrm>
          <a:prstGeom prst="rect">
            <a:avLst/>
          </a:prstGeom>
          <a:solidFill>
            <a:srgbClr val="F0F0F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Cloud &amp;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Solution Impact: 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Projected impact across cycle time, operational cost, and manual effort at 3–5M monthly volume.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8F0F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Cycle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B82F6"/>
                </a:solidFill>
                <a:latin typeface="Calibri"/>
              </a:defRPr>
            </a:pPr>
            <a:r>
              <a:t>-58%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End-to-end onboarding cycle time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Digital workers handle intake, extraction, and validation in real time. Templates eliminate per-client rework. Single gated checkpoint removes back-and-forth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657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554480"/>
            <a:ext cx="457200" cy="457200"/>
          </a:xfrm>
          <a:prstGeom prst="ellipse">
            <a:avLst/>
          </a:prstGeom>
          <a:solidFill>
            <a:srgbClr val="F3E8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Operational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-52%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Cost per onboarding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17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Shifting volume from manual (40%) to API straight-through and digital workers reduces headcount-dependent cost. Pod capacity focuses on exceptions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657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0" y="1554480"/>
            <a:ext cx="457200" cy="457200"/>
          </a:xfrm>
          <a:prstGeom prst="ellipse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Manual 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E8E5E"/>
                </a:solidFill>
                <a:latin typeface="Calibri"/>
              </a:defRPr>
            </a:pPr>
            <a:r>
              <a:t>-80%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Manual channel share (40% → 8%)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017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Digital workers process intake and validation. Human review reserved for true exceptions. Templating removes repetitive configuration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Visual comparison: current state vs. target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Calibri"/>
              </a:defRPr>
            </a:pPr>
            <a:r>
              <a:t>Cycle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440680"/>
            <a:ext cx="3657600" cy="274320"/>
          </a:xfrm>
          <a:prstGeom prst="roundRect">
            <a:avLst/>
          </a:prstGeom>
          <a:solidFill>
            <a:srgbClr val="999999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before: 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440680"/>
            <a:ext cx="1536192" cy="2743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44068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after: 42%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Calibri"/>
              </a:defRPr>
            </a:pPr>
            <a:r>
              <a:t>Cost per onboarding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852160"/>
            <a:ext cx="3657600" cy="274320"/>
          </a:xfrm>
          <a:prstGeom prst="roundRect">
            <a:avLst/>
          </a:prstGeom>
          <a:solidFill>
            <a:srgbClr val="999999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before: 100%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852160"/>
            <a:ext cx="1755648" cy="2743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585216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after: 48%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Calibri"/>
              </a:defRPr>
            </a:pPr>
            <a:r>
              <a:t>Manual share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6263640"/>
            <a:ext cx="3657600" cy="274320"/>
          </a:xfrm>
          <a:prstGeom prst="roundRect">
            <a:avLst/>
          </a:prstGeom>
          <a:solidFill>
            <a:srgbClr val="999999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626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before: 40%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6263640"/>
            <a:ext cx="292608" cy="274320"/>
          </a:xfrm>
          <a:prstGeom prst="roundRect">
            <a:avLst/>
          </a:prstGeom>
          <a:solidFill>
            <a:srgbClr val="3E8E5E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626364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after: 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Solution Levers Driving the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Each lever is mapped to the metrics it improves: time, cost, or manual effort.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Client archetype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Configure the delta, not the whole record. Inherited defaults cut per-client setup time from near-bespoke to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822960" cy="201168"/>
          </a:xfrm>
          <a:prstGeom prst="roundRect">
            <a:avLst/>
          </a:prstGeom>
          <a:solidFill>
            <a:srgbClr val="E8F0F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423160"/>
            <a:ext cx="822960" cy="201168"/>
          </a:xfrm>
          <a:prstGeom prst="roundRect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E8E5E"/>
                </a:solidFill>
              </a:defRPr>
            </a:pPr>
            <a:r>
              <a:t>effort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508760"/>
            <a:ext cx="365760" cy="36576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536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Digital worker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Automated intake, extraction, and validation. Human reviewers handle only exceptions — typically &lt;10% of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423160"/>
            <a:ext cx="822960" cy="201168"/>
          </a:xfrm>
          <a:prstGeom prst="roundRect">
            <a:avLst/>
          </a:prstGeom>
          <a:solidFill>
            <a:srgbClr val="E8F0F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423160"/>
            <a:ext cx="822960" cy="201168"/>
          </a:xfrm>
          <a:prstGeom prst="roundRect">
            <a:avLst/>
          </a:prstGeom>
          <a:solidFill>
            <a:srgbClr val="F3E8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423160"/>
            <a:ext cx="822960" cy="201168"/>
          </a:xfrm>
          <a:prstGeom prst="roundRect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E8E5E"/>
                </a:solidFill>
              </a:defRPr>
            </a:pPr>
            <a:r>
              <a:t>effort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API onboarding kits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747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Counterparty integration layer shifts volume from manual handling to straight-through processing.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77640"/>
            <a:ext cx="822960" cy="201168"/>
          </a:xfrm>
          <a:prstGeom prst="roundRect">
            <a:avLst/>
          </a:prstGeom>
          <a:solidFill>
            <a:srgbClr val="F3E8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3977640"/>
            <a:ext cx="822960" cy="201168"/>
          </a:xfrm>
          <a:prstGeom prst="roundRect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E8E5E"/>
                </a:solidFill>
              </a:defRPr>
            </a:pPr>
            <a:r>
              <a:t>effort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92608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5080" y="3063240"/>
            <a:ext cx="365760" cy="36576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Field-necessity rationalisation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Separating regulatory mandates from legacy fields reduces the mandatory set, unlocking faster configuration.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977640"/>
            <a:ext cx="822960" cy="201168"/>
          </a:xfrm>
          <a:prstGeom prst="roundRect">
            <a:avLst/>
          </a:prstGeom>
          <a:solidFill>
            <a:srgbClr val="E8F0F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3977640"/>
            <a:ext cx="822960" cy="201168"/>
          </a:xfrm>
          <a:prstGeom prst="roundRect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E8E5E"/>
                </a:solidFill>
              </a:defRPr>
            </a:pPr>
            <a:r>
              <a:t>effort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617720"/>
            <a:ext cx="365760" cy="36576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Single gated control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Defined approval criteria and instrumented cycle-time reporting eliminate rework loops and ambiguity.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532120"/>
            <a:ext cx="822960" cy="201168"/>
          </a:xfrm>
          <a:prstGeom prst="roundRect">
            <a:avLst/>
          </a:prstGeom>
          <a:solidFill>
            <a:srgbClr val="E8F0F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8760" y="5532120"/>
            <a:ext cx="822960" cy="201168"/>
          </a:xfrm>
          <a:prstGeom prst="roundRect">
            <a:avLst/>
          </a:prstGeom>
          <a:solidFill>
            <a:srgbClr val="F3E8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cost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48056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5080" y="4617720"/>
            <a:ext cx="365760" cy="36576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Automated remediation triage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POD capacity is directed to genuine exceptions only. Queue instrumentation makes the capacity gap visible and manageable.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5532120"/>
            <a:ext cx="822960" cy="201168"/>
          </a:xfrm>
          <a:prstGeom prst="roundRect">
            <a:avLst/>
          </a:prstGeom>
          <a:solidFill>
            <a:srgbClr val="F3E8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cost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5532120"/>
            <a:ext cx="822960" cy="201168"/>
          </a:xfrm>
          <a:prstGeom prst="roundRect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E8E5E"/>
                </a:solidFill>
              </a:defRPr>
            </a:pPr>
            <a:r>
              <a:t>effort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Recommended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Traceability and templating come first. Both are prerequisites for automating anything safely.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Traceability + templating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Establish audit-logged workflows and client archetype templates. You cannot automate a process you cannot audit, and you cannot template until you know which fields genuinely need to be mandated.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Field-necessity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Separate regulatory mandates from legacy ones. Usually a meaningful share is the latter. Reducing the mandated set unlocks delta-configuration.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94759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Automation of manual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Digital workers for intake, extraction, and validation. Human review reserved for true exceptions only. This is where the volume shift happens.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API adoption + channel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57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Counterparty onboarding kits to push volume from manual to straight-through. Instrument and baseline before scoping.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4864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1300" b="1">
                <a:solidFill>
                  <a:srgbClr val="2E5EAA"/>
                </a:solidFill>
                <a:latin typeface="Calibri"/>
              </a:defRPr>
            </a:pPr>
            <a:r>
              <a:t>This ordering gives a visible win inside a single budget cycle — critical when funding is central and contested.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Open Items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Still to confirm before this is client-facing: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Volume unit: What is the unit for '3–5M/month'? Transactions, records, or accounts?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920239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Missing channel mix: The stated splits total ~60%. What is the remaining ~40%?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'14 → Wealth': Does this refer to a business line or a headcount figure?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92608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Names on page 2: 'Sam N—' and '—L Green' need verification.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29000"/>
            <a:ext cx="164592" cy="164592"/>
          </a:xfrm>
          <a:prstGeom prst="ellipse">
            <a:avLst/>
          </a:prstGeom>
          <a:solidFill>
            <a:srgbClr val="B87A2A"/>
          </a:solidFill>
          <a:ln>
            <a:solidFill>
              <a:srgbClr val="B8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MCOB funds: Confirm handling requirements and regulatory treatment.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Suggested deliverables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Executive deck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Three problems → sequenced response. Best artifact for the onboarding leader.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72000"/>
            <a:ext cx="530352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Phasing tracker</a:t>
            </a: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Calibri"/>
              </a:defRPr>
            </a:pPr>
            <a:r>
              <a:t>Excel with phases, owners, and confidence levels for delivery team handoff.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