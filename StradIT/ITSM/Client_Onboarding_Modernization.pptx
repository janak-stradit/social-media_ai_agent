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E2B1D-3ED0-E452-877A-1CEF67D284A0}" v="1" dt="2026-08-14T13:54:11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ak Panchal" userId="S::janak@stradit.com::86f53ce7-55e5-48fd-988c-76e5fd2e3024" providerId="AD" clId="Web-{E16E2B1D-3ED0-E452-877A-1CEF67D284A0}"/>
    <pc:docChg chg="modSld">
      <pc:chgData name="Janak Panchal" userId="S::janak@stradit.com::86f53ce7-55e5-48fd-988c-76e5fd2e3024" providerId="AD" clId="Web-{E16E2B1D-3ED0-E452-877A-1CEF67D284A0}" dt="2026-08-14T13:54:11.671" v="0" actId="14100"/>
      <pc:docMkLst>
        <pc:docMk/>
      </pc:docMkLst>
      <pc:sldChg chg="modSp">
        <pc:chgData name="Janak Panchal" userId="S::janak@stradit.com::86f53ce7-55e5-48fd-988c-76e5fd2e3024" providerId="AD" clId="Web-{E16E2B1D-3ED0-E452-877A-1CEF67D284A0}" dt="2026-08-14T13:54:11.671" v="0" actId="14100"/>
        <pc:sldMkLst>
          <pc:docMk/>
          <pc:sldMk cId="0" sldId="257"/>
        </pc:sldMkLst>
        <pc:spChg chg="mod">
          <ac:chgData name="Janak Panchal" userId="S::janak@stradit.com::86f53ce7-55e5-48fd-988c-76e5fd2e3024" providerId="AD" clId="Web-{E16E2B1D-3ED0-E452-877A-1CEF67D284A0}" dt="2026-08-14T13:54:11.671" v="0" actId="14100"/>
          <ac:spMkLst>
            <pc:docMk/>
            <pc:sldMk cId="0" sldId="257"/>
            <ac:spMk id="4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7A2A"/>
                </a:solidFill>
                <a:latin typeface="Calibri"/>
              </a:defRPr>
            </a:pPr>
            <a:r>
              <a:t>WORKSTREAM 02 ·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1A"/>
                </a:solidFill>
                <a:latin typeface="Calibri"/>
              </a:defRPr>
            </a:pPr>
            <a:r>
              <a:t>Client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640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1">
                <a:solidFill>
                  <a:srgbClr val="D47A2A"/>
                </a:solidFill>
                <a:latin typeface="Calibri"/>
              </a:defRPr>
            </a:pPr>
            <a:r>
              <a:t>modernization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Scale &amp; Operational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C43E3E"/>
                </a:solidFill>
                <a:latin typeface="Calibri"/>
              </a:defRPr>
            </a:pPr>
            <a:r>
              <a:t>1,000–2,000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account openings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The platform processes high daily throughput with limited process standardisation, creating sustained operational strain across teams.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5120640" cy="9144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C43E3E"/>
                </a:solidFill>
                <a:latin typeface="Calibri"/>
              </a:defRPr>
            </a:pPr>
            <a:r>
              <a:t>~170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unique forms and validation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A fragmented form landscape with no unified intake layer drives complexity, error rates, and extended processing cycles.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663440"/>
            <a:ext cx="5120640" cy="9144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Calibri"/>
              </a:defRPr>
            </a:pPr>
            <a:r>
              <a:t>Manual process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Onboarding remains heavily reliant on manual data entry, sequential touchpoints, and length-oriented validation steps that extend cycle times and increase error exposure.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760720"/>
            <a:ext cx="5120640" cy="9144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Calibri"/>
              </a:defRPr>
            </a:pPr>
            <a:r>
              <a:t>Prioritisation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72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Wealth-specific enhancements compete at firm level for central funding, resulting in delayed remediation and missed delivery commitments.</a:t>
            </a:r>
          </a:p>
        </p:txBody>
      </p:sp>
      <p:sp>
        <p:nvSpPr>
          <p:cNvPr id="20" name="Oval 19"/>
          <p:cNvSpPr/>
          <p:nvPr/>
        </p:nvSpPr>
        <p:spPr>
          <a:xfrm>
            <a:off x="5623560" y="3291840"/>
            <a:ext cx="914400" cy="914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23560" y="340156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E2A3E"/>
          </a:solidFill>
          <a:ln w="12700">
            <a:solidFill>
              <a:srgbClr val="1E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Dedicated Wealth Focus &amp;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57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Specialised POD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C5D0"/>
                </a:solidFill>
                <a:latin typeface="Calibri"/>
              </a:defRPr>
            </a:pPr>
            <a:r>
              <a:t>In-house StradIT SMEs with deep COB knowledge deployed as dedicated Wealth PODs for agile execution and faster decision-making.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971800"/>
            <a:ext cx="5120640" cy="9144"/>
          </a:xfrm>
          <a:prstGeom prst="rect">
            <a:avLst/>
          </a:prstGeom>
          <a:solidFill>
            <a:srgbClr val="3A4A5E"/>
          </a:solidFill>
          <a:ln>
            <a:solidFill>
              <a:srgbClr val="3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Targeted remediation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83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C5D0"/>
                </a:solidFill>
                <a:latin typeface="Calibri"/>
              </a:defRPr>
            </a:pPr>
            <a:r>
              <a:t>PODs resolve Account Master reconciliations, householding logic, and reference data anomalies — tackling root causes rather than symptoms.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023360"/>
            <a:ext cx="5120640" cy="9144"/>
          </a:xfrm>
          <a:prstGeom prst="rect">
            <a:avLst/>
          </a:prstGeom>
          <a:solidFill>
            <a:srgbClr val="3A4A5E"/>
          </a:solidFill>
          <a:ln>
            <a:solidFill>
              <a:srgbClr val="3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160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Cross-functional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348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C5D0"/>
                </a:solidFill>
                <a:latin typeface="Calibri"/>
              </a:defRPr>
            </a:pPr>
            <a:r>
              <a:t>PODs collaborate directly with core Reference Data teams to drive systemic fixes that eliminate recurring issues across the onboarding pipeline.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074920"/>
            <a:ext cx="5120640" cy="9144"/>
          </a:xfrm>
          <a:prstGeom prst="rect">
            <a:avLst/>
          </a:prstGeom>
          <a:solidFill>
            <a:srgbClr val="3A4A5E"/>
          </a:solidFill>
          <a:ln>
            <a:solidFill>
              <a:srgbClr val="3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5212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Document transformation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86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BC5D0"/>
                </a:solidFill>
                <a:latin typeface="Calibri"/>
              </a:defRPr>
            </a:pPr>
            <a:r>
              <a:t>Modernised and simplified document intake through POD-driven automation, cutting processing cycle times and reducing manual handoff overhead.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7A2A"/>
                </a:solidFill>
                <a:latin typeface="Calibri"/>
              </a:defRPr>
            </a:pPr>
            <a:r>
              <a:t>SOLUTION IMPACT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Calibri"/>
              </a:defRPr>
            </a:pPr>
            <a:r>
              <a:t>How the solution delivers measurable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Projected impact across cycle time, operational cost, and manual effort — driven by automation, templating, and channel shift.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3657600" cy="301752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8F0FA"/>
          </a:solidFill>
          <a:ln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1A1A1A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Cycle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E5EAA"/>
                </a:solidFill>
                <a:latin typeface="Calibri"/>
              </a:defRPr>
            </a:pPr>
            <a:r>
              <a:t>-58%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End-to-end onboarding cycle time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Digital workers handle intake, extraction, and validation in real time. Templates eliminate per-client rework. Single gated checkpoint removes back-and-forth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00200"/>
            <a:ext cx="3657600" cy="301752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1783080"/>
            <a:ext cx="457200" cy="457200"/>
          </a:xfrm>
          <a:prstGeom prst="ellipse">
            <a:avLst/>
          </a:prstGeom>
          <a:solidFill>
            <a:srgbClr val="F3E8F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1A1A1A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Operational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7C3AED"/>
                </a:solidFill>
                <a:latin typeface="Calibri"/>
              </a:defRPr>
            </a:pPr>
            <a:r>
              <a:t>-52%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Cost per onboarding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089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Shifting volume from manual (40%) to API straight-through and digital workers reduces headcount-dependent cost. Pod capacity focuses on exceptions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600200"/>
            <a:ext cx="3657600" cy="301752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38159" y="1783080"/>
            <a:ext cx="457200" cy="457200"/>
          </a:xfrm>
          <a:prstGeom prst="ellipse">
            <a:avLst/>
          </a:prstGeom>
          <a:solidFill>
            <a:srgbClr val="E8FAF0"/>
          </a:solidFill>
          <a:ln>
            <a:solidFill>
              <a:srgbClr val="3E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59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1A1A1A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799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Manual effort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E8E5E"/>
                </a:solidFill>
                <a:latin typeface="Calibri"/>
              </a:defRPr>
            </a:pPr>
            <a:r>
              <a:t>-80%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Manual channel share (40% → 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31089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Digital workers process intake and validation. Human review reserved for true exceptions. Templating removes repetitive configuration 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Before vs. After — Visual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1A"/>
                </a:solidFill>
                <a:latin typeface="Calibri"/>
              </a:defRPr>
            </a:pPr>
            <a:r>
              <a:t>Cycle 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5212080"/>
            <a:ext cx="4114800" cy="256032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68880" y="5212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before: baseline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5212080"/>
            <a:ext cx="1728216" cy="256032"/>
          </a:xfrm>
          <a:prstGeom prst="roundRect">
            <a:avLst/>
          </a:prstGeom>
          <a:solidFill>
            <a:srgbClr val="2E5EAA"/>
          </a:solidFill>
          <a:ln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68880" y="5212080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after: 42%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9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1A"/>
                </a:solidFill>
                <a:latin typeface="Calibri"/>
              </a:defRPr>
            </a:pPr>
            <a:r>
              <a:t>Cost per onboarding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0" y="5669280"/>
            <a:ext cx="4114800" cy="256032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68880" y="56692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before: baseline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5669280"/>
            <a:ext cx="1975104" cy="25603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68880" y="5669280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after: 48%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26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1A"/>
                </a:solidFill>
                <a:latin typeface="Calibri"/>
              </a:defRPr>
            </a:pPr>
            <a:r>
              <a:t>Manual share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68880" y="6126480"/>
            <a:ext cx="4114800" cy="256032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68880" y="61264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before: 40%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68880" y="6126480"/>
            <a:ext cx="822960" cy="256032"/>
          </a:xfrm>
          <a:prstGeom prst="roundRect">
            <a:avLst/>
          </a:prstGeom>
          <a:solidFill>
            <a:srgbClr val="3E8E5E"/>
          </a:solidFill>
          <a:ln>
            <a:solidFill>
              <a:srgbClr val="3E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68880" y="6126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after: 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0" y="5165617"/>
            <a:ext cx="4370535" cy="155894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0" y="5349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Calibri"/>
              </a:defRPr>
            </a:pPr>
            <a:r>
              <a:t>Combined business case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6235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At 3–5 million onboarding events per month, a 52% cost reduction and 58% cycle-time improvement compound into material operational savings. The 80% reduction in manual effort restructures the operating model from headcount-dependent processing to exception-driven oversight.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2026-08-14T13:54:12Z</dcterms:modified>
  <cp:category/>
</cp:coreProperties>
</file>