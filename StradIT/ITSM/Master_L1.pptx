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2" dt="2026-08-17T13:28:26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ak Panchal" userId="S::janak@stradit.com::86f53ce7-55e5-48fd-988c-76e5fd2e3024" providerId="AD" clId="Web-{00000000-0000-0000-0000-000000000000}"/>
    <pc:docChg chg="modSld">
      <pc:chgData name="Janak Panchal" userId="S::janak@stradit.com::86f53ce7-55e5-48fd-988c-76e5fd2e3024" providerId="AD" clId="Web-{00000000-0000-0000-0000-000000000000}" dt="2026-08-17T13:28:26.750" v="21"/>
      <pc:docMkLst>
        <pc:docMk/>
      </pc:docMkLst>
      <pc:sldChg chg="delSp modSp">
        <pc:chgData name="Janak Panchal" userId="S::janak@stradit.com::86f53ce7-55e5-48fd-988c-76e5fd2e3024" providerId="AD" clId="Web-{00000000-0000-0000-0000-000000000000}" dt="2026-08-17T13:28:26.750" v="21"/>
        <pc:sldMkLst>
          <pc:docMk/>
          <pc:sldMk cId="0" sldId="256"/>
        </pc:sldMkLst>
        <pc:spChg chg="mod">
          <ac:chgData name="Janak Panchal" userId="S::janak@stradit.com::86f53ce7-55e5-48fd-988c-76e5fd2e3024" providerId="AD" clId="Web-{00000000-0000-0000-0000-000000000000}" dt="2026-08-17T13:28:26.016" v="18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Janak Panchal" userId="S::janak@stradit.com::86f53ce7-55e5-48fd-988c-76e5fd2e3024" providerId="AD" clId="Web-{00000000-0000-0000-0000-000000000000}" dt="2026-08-17T13:28:26.032" v="19" actId="1076"/>
          <ac:spMkLst>
            <pc:docMk/>
            <pc:sldMk cId="0" sldId="256"/>
            <ac:spMk id="13" creationId="{00000000-0000-0000-0000-000000000000}"/>
          </ac:spMkLst>
        </pc:spChg>
        <pc:spChg chg="del mod">
          <ac:chgData name="Janak Panchal" userId="S::janak@stradit.com::86f53ce7-55e5-48fd-988c-76e5fd2e3024" providerId="AD" clId="Web-{00000000-0000-0000-0000-000000000000}" dt="2026-08-17T13:28:26.750" v="21"/>
          <ac:spMkLst>
            <pc:docMk/>
            <pc:sldMk cId="0" sldId="256"/>
            <ac:spMk id="14" creationId="{00000000-0000-0000-0000-000000000000}"/>
          </ac:spMkLst>
        </pc:spChg>
      </pc:sldChg>
      <pc:sldChg chg="modSp">
        <pc:chgData name="Janak Panchal" userId="S::janak@stradit.com::86f53ce7-55e5-48fd-988c-76e5fd2e3024" providerId="AD" clId="Web-{00000000-0000-0000-0000-000000000000}" dt="2026-08-17T13:19:34.286" v="11" actId="1076"/>
        <pc:sldMkLst>
          <pc:docMk/>
          <pc:sldMk cId="0" sldId="257"/>
        </pc:sldMkLst>
        <pc:spChg chg="mod">
          <ac:chgData name="Janak Panchal" userId="S::janak@stradit.com::86f53ce7-55e5-48fd-988c-76e5fd2e3024" providerId="AD" clId="Web-{00000000-0000-0000-0000-000000000000}" dt="2026-08-17T13:19:17.974" v="6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Janak Panchal" userId="S::janak@stradit.com::86f53ce7-55e5-48fd-988c-76e5fd2e3024" providerId="AD" clId="Web-{00000000-0000-0000-0000-000000000000}" dt="2026-08-17T13:19:17.989" v="7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Janak Panchal" userId="S::janak@stradit.com::86f53ce7-55e5-48fd-988c-76e5fd2e3024" providerId="AD" clId="Web-{00000000-0000-0000-0000-000000000000}" dt="2026-08-17T13:19:34.271" v="10" actId="107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Janak Panchal" userId="S::janak@stradit.com::86f53ce7-55e5-48fd-988c-76e5fd2e3024" providerId="AD" clId="Web-{00000000-0000-0000-0000-000000000000}" dt="2026-08-17T13:19:34.286" v="11" actId="1076"/>
          <ac:spMkLst>
            <pc:docMk/>
            <pc:sldMk cId="0" sldId="257"/>
            <ac:spMk id="35" creationId="{00000000-0000-0000-0000-000000000000}"/>
          </ac:spMkLst>
        </pc:spChg>
        <pc:spChg chg="mod">
          <ac:chgData name="Janak Panchal" userId="S::janak@stradit.com::86f53ce7-55e5-48fd-988c-76e5fd2e3024" providerId="AD" clId="Web-{00000000-0000-0000-0000-000000000000}" dt="2026-08-17T13:19:01.083" v="3" actId="1076"/>
          <ac:spMkLst>
            <pc:docMk/>
            <pc:sldMk cId="0" sldId="257"/>
            <ac:spMk id="42" creationId="{00000000-0000-0000-0000-000000000000}"/>
          </ac:spMkLst>
        </pc:spChg>
      </pc:sldChg>
      <pc:sldChg chg="modSp">
        <pc:chgData name="Janak Panchal" userId="S::janak@stradit.com::86f53ce7-55e5-48fd-988c-76e5fd2e3024" providerId="AD" clId="Web-{00000000-0000-0000-0000-000000000000}" dt="2026-08-17T13:19:45.552" v="13" actId="1076"/>
        <pc:sldMkLst>
          <pc:docMk/>
          <pc:sldMk cId="0" sldId="258"/>
        </pc:sldMkLst>
        <pc:spChg chg="mod">
          <ac:chgData name="Janak Panchal" userId="S::janak@stradit.com::86f53ce7-55e5-48fd-988c-76e5fd2e3024" providerId="AD" clId="Web-{00000000-0000-0000-0000-000000000000}" dt="2026-08-17T13:19:45.537" v="12" actId="1076"/>
          <ac:spMkLst>
            <pc:docMk/>
            <pc:sldMk cId="0" sldId="258"/>
            <ac:spMk id="34" creationId="{00000000-0000-0000-0000-000000000000}"/>
          </ac:spMkLst>
        </pc:spChg>
        <pc:spChg chg="mod">
          <ac:chgData name="Janak Panchal" userId="S::janak@stradit.com::86f53ce7-55e5-48fd-988c-76e5fd2e3024" providerId="AD" clId="Web-{00000000-0000-0000-0000-000000000000}" dt="2026-08-17T13:19:45.552" v="13" actId="1076"/>
          <ac:spMkLst>
            <pc:docMk/>
            <pc:sldMk cId="0" sldId="258"/>
            <ac:spMk id="35" creationId="{00000000-0000-0000-0000-000000000000}"/>
          </ac:spMkLst>
        </pc:spChg>
      </pc:sldChg>
      <pc:sldChg chg="modSp">
        <pc:chgData name="Janak Panchal" userId="S::janak@stradit.com::86f53ce7-55e5-48fd-988c-76e5fd2e3024" providerId="AD" clId="Web-{00000000-0000-0000-0000-000000000000}" dt="2026-08-17T13:20:00.865" v="15" actId="1076"/>
        <pc:sldMkLst>
          <pc:docMk/>
          <pc:sldMk cId="0" sldId="259"/>
        </pc:sldMkLst>
        <pc:spChg chg="mod">
          <ac:chgData name="Janak Panchal" userId="S::janak@stradit.com::86f53ce7-55e5-48fd-988c-76e5fd2e3024" providerId="AD" clId="Web-{00000000-0000-0000-0000-000000000000}" dt="2026-08-17T13:20:00.850" v="14" actId="107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Janak Panchal" userId="S::janak@stradit.com::86f53ce7-55e5-48fd-988c-76e5fd2e3024" providerId="AD" clId="Web-{00000000-0000-0000-0000-000000000000}" dt="2026-08-17T13:20:00.865" v="15" actId="1076"/>
          <ac:spMkLst>
            <pc:docMk/>
            <pc:sldMk cId="0" sldId="259"/>
            <ac:spMk id="31" creationId="{00000000-0000-0000-0000-000000000000}"/>
          </ac:spMkLst>
        </pc:spChg>
      </pc:sldChg>
      <pc:sldChg chg="modSp">
        <pc:chgData name="Janak Panchal" userId="S::janak@stradit.com::86f53ce7-55e5-48fd-988c-76e5fd2e3024" providerId="AD" clId="Web-{00000000-0000-0000-0000-000000000000}" dt="2026-08-17T13:20:10.318" v="17" actId="1076"/>
        <pc:sldMkLst>
          <pc:docMk/>
          <pc:sldMk cId="0" sldId="260"/>
        </pc:sldMkLst>
        <pc:spChg chg="mod">
          <ac:chgData name="Janak Panchal" userId="S::janak@stradit.com::86f53ce7-55e5-48fd-988c-76e5fd2e3024" providerId="AD" clId="Web-{00000000-0000-0000-0000-000000000000}" dt="2026-08-17T13:20:10.303" v="16" actId="1076"/>
          <ac:spMkLst>
            <pc:docMk/>
            <pc:sldMk cId="0" sldId="260"/>
            <ac:spMk id="32" creationId="{00000000-0000-0000-0000-000000000000}"/>
          </ac:spMkLst>
        </pc:spChg>
        <pc:spChg chg="mod">
          <ac:chgData name="Janak Panchal" userId="S::janak@stradit.com::86f53ce7-55e5-48fd-988c-76e5fd2e3024" providerId="AD" clId="Web-{00000000-0000-0000-0000-000000000000}" dt="2026-08-17T13:20:10.318" v="17" actId="1076"/>
          <ac:spMkLst>
            <pc:docMk/>
            <pc:sldMk cId="0" sldId="260"/>
            <ac:spMk id="3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5448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93192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2064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7552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06424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806287" y="563880"/>
            <a:ext cx="614476" cy="274320"/>
          </a:xfrm>
          <a:prstGeom prst="roundRect">
            <a:avLst>
              <a:gd name="adj" fmla="val 50000"/>
            </a:avLst>
          </a:prstGeom>
          <a:solidFill>
            <a:srgbClr val="2E2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06287" y="563880"/>
            <a:ext cx="6144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spc="40">
                <a:solidFill>
                  <a:srgbClr val="F2A93B"/>
                </a:solidFill>
                <a:latin typeface="Consolas"/>
              </a:rPr>
              <a:t>MASTER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6663" y="960120"/>
            <a:ext cx="658368" cy="658368"/>
          </a:xfrm>
          <a:prstGeom prst="roundRect">
            <a:avLst>
              <a:gd name="adj" fmla="val 28000"/>
            </a:avLst>
          </a:prstGeom>
          <a:solidFill>
            <a:srgbClr val="16213A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 i="0">
                <a:solidFill>
                  <a:srgbClr val="45E0C4"/>
                </a:solidFill>
                <a:latin typeface="Segoe UI"/>
              </a:rPr>
              <a:t>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9445752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E9EEFB"/>
                </a:solidFill>
                <a:latin typeface="Segoe UI Semibold"/>
              </a:rPr>
              <a:t>Master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606040"/>
            <a:ext cx="77998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93A2C4"/>
                </a:solidFill>
                <a:latin typeface="Segoe UI"/>
              </a:rPr>
              <a:t>The classifier and router every ticket passes through before anything else happens.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429000"/>
            <a:ext cx="3637178" cy="1874519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429000"/>
            <a:ext cx="3637178" cy="20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" y="3611880"/>
            <a:ext cx="3161690" cy="1508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01  </a:t>
            </a:r>
            <a:r>
              <a:rPr sz="1050" b="0" i="0" spc="60">
                <a:solidFill>
                  <a:srgbClr val="45E0C4"/>
                </a:solidFill>
                <a:latin typeface="Consolas"/>
              </a:rPr>
              <a:t>WHAT IT IS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 i="0">
                <a:solidFill>
                  <a:srgbClr val="E9EEFB"/>
                </a:solidFill>
                <a:latin typeface="Segoe UI"/>
              </a:rPr>
              <a:t>Master is the front door for every incoming ticket. It classifies category, severity, complexity, and confidence, then routes the ticket to L1, L2, L3, or straight to a human if confidence is too low to trust an automated route at all. It is not an SR sub-agent — it's the top-level orchestrator everything else sits behind.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7258" y="3429000"/>
            <a:ext cx="3637178" cy="1874519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77258" y="3429000"/>
            <a:ext cx="3637178" cy="20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15002" y="3611880"/>
            <a:ext cx="3161690" cy="1508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02  </a:t>
            </a:r>
            <a:r>
              <a:rPr sz="1050" b="0" i="0" spc="60">
                <a:solidFill>
                  <a:srgbClr val="45E0C4"/>
                </a:solidFill>
                <a:latin typeface="Consolas"/>
              </a:rPr>
              <a:t>THE USE CASE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 i="0">
                <a:solidFill>
                  <a:srgbClr val="E9EEFB"/>
                </a:solidFill>
                <a:latin typeface="Segoe UI"/>
              </a:rPr>
              <a:t>Replace a human dispatcher reading every ticket and deciding “who handles this” with a classifier that does it in milliseconds, consistently, at any volume — and knows when to say “I'm not sure, escalate this to a person” instead of guessing.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8756" y="3429000"/>
            <a:ext cx="3637178" cy="1874519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8756" y="3429000"/>
            <a:ext cx="3637178" cy="2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26500" y="3611880"/>
            <a:ext cx="3161690" cy="1508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03  </a:t>
            </a:r>
            <a:r>
              <a:rPr sz="1050" b="0" i="0" spc="60">
                <a:solidFill>
                  <a:srgbClr val="F2A93B"/>
                </a:solidFill>
                <a:latin typeface="Consolas"/>
              </a:rPr>
              <a:t>ENTERPRISE REALITY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00" b="0" i="0">
                <a:solidFill>
                  <a:srgbClr val="E9EEFB"/>
                </a:solidFill>
                <a:latin typeface="Segoe UI"/>
              </a:rPr>
              <a:t>Same job as AI-driven ticket triage in a large enterprise service desk: a password reset routes to self-service, a database connection-pool exhaustion routes to L2 engineering, an active breach with lateral movement routes straight to L3 / CSIRT at P1. A bounded deliberation loop caps re-classification passes so a hard ticket escalates instead of looping forever.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88917" y="5623560"/>
            <a:ext cx="630936" cy="292608"/>
          </a:xfrm>
          <a:prstGeom prst="roundRect">
            <a:avLst>
              <a:gd name="adj" fmla="val 30000"/>
            </a:avLst>
          </a:prstGeom>
          <a:solidFill>
            <a:srgbClr val="2E2412"/>
          </a:solidFill>
          <a:ln w="952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88917" y="5623560"/>
            <a:ext cx="63093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F2A93B"/>
                </a:solidFill>
                <a:latin typeface="Consolas"/>
              </a:rPr>
              <a:t>Master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19853" y="5623560"/>
            <a:ext cx="151479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B6B8F"/>
                </a:solidFill>
                <a:latin typeface="Segoe U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05464" y="5623560"/>
            <a:ext cx="1289304" cy="292608"/>
          </a:xfrm>
          <a:prstGeom prst="roundRect">
            <a:avLst>
              <a:gd name="adj" fmla="val 30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05464" y="5623560"/>
            <a:ext cx="12893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B6B8F"/>
                </a:solidFill>
                <a:latin typeface="Consolas"/>
              </a:rPr>
              <a:t>SR01–SR05 (L1)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4768" y="5623560"/>
            <a:ext cx="85642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B6B8F"/>
                </a:solidFill>
                <a:latin typeface="Segoe U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51195" y="5623560"/>
            <a:ext cx="1289304" cy="292608"/>
          </a:xfrm>
          <a:prstGeom prst="roundRect">
            <a:avLst>
              <a:gd name="adj" fmla="val 30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51195" y="5623560"/>
            <a:ext cx="12893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B6B8F"/>
                </a:solidFill>
                <a:latin typeface="Consolas"/>
              </a:rPr>
              <a:t>SR06–SR10 (L2)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0499" y="5623560"/>
            <a:ext cx="85642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B6B8F"/>
                </a:solidFill>
                <a:latin typeface="Segoe U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96926" y="5623560"/>
            <a:ext cx="1289304" cy="292608"/>
          </a:xfrm>
          <a:prstGeom prst="roundRect">
            <a:avLst>
              <a:gd name="adj" fmla="val 30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96926" y="5623560"/>
            <a:ext cx="128930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B6B8F"/>
                </a:solidFill>
                <a:latin typeface="Consolas"/>
              </a:rPr>
              <a:t>SR11–SR15 (L3)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86230" y="5623560"/>
            <a:ext cx="85642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5B6B8F"/>
                </a:solidFill>
                <a:latin typeface="Segoe U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07250" y="5623560"/>
            <a:ext cx="960119" cy="292608"/>
          </a:xfrm>
          <a:prstGeom prst="roundRect">
            <a:avLst>
              <a:gd name="adj" fmla="val 30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907250" y="5623560"/>
            <a:ext cx="96011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5B6B8F"/>
                </a:solidFill>
                <a:latin typeface="Consolas"/>
              </a:rPr>
              <a:t>Escalation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5448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93192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2064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7552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06424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28655" y="2743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40">
                <a:solidFill>
                  <a:srgbClr val="5B6B8F"/>
                </a:solidFill>
                <a:latin typeface="Consolas"/>
              </a:rPr>
              <a:t>02 / 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2920"/>
            <a:ext cx="853135" cy="274320"/>
          </a:xfrm>
          <a:prstGeom prst="roundRect">
            <a:avLst>
              <a:gd name="adj" fmla="val 50000"/>
            </a:avLst>
          </a:prstGeom>
          <a:solidFill>
            <a:srgbClr val="16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"/>
            <a:ext cx="85313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spc="40">
                <a:solidFill>
                  <a:srgbClr val="45E0C4"/>
                </a:solidFill>
                <a:latin typeface="Consolas"/>
              </a:rPr>
              <a:t>L1 · SR01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93215" y="502920"/>
            <a:ext cx="2205532" cy="274320"/>
          </a:xfrm>
          <a:prstGeom prst="roundRect">
            <a:avLst>
              <a:gd name="adj" fmla="val 50000"/>
            </a:avLst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93215" y="502920"/>
            <a:ext cx="22055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spc="40">
                <a:solidFill>
                  <a:srgbClr val="5B6B8F"/>
                </a:solidFill>
                <a:latin typeface="Consolas"/>
              </a:rPr>
              <a:t>src/agents/subagents/l1.py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10058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6213A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 i="0">
                <a:solidFill>
                  <a:srgbClr val="45E0C4"/>
                </a:solidFill>
                <a:latin typeface="Segoe UI"/>
              </a:rPr>
              <a:t>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78308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 i="0">
                <a:solidFill>
                  <a:srgbClr val="E9EEFB"/>
                </a:solidFill>
                <a:latin typeface="Segoe UI Semibold"/>
              </a:rPr>
              <a:t>Continuous Health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i="0">
                <a:solidFill>
                  <a:srgbClr val="5B6B8F"/>
                </a:solidFill>
                <a:latin typeface="Consolas"/>
              </a:rPr>
              <a:t>“Rad”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2608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300" b="0" i="0">
                <a:solidFill>
                  <a:srgbClr val="93A2C4"/>
                </a:solidFill>
                <a:latin typeface="Segoe UI"/>
              </a:rPr>
              <a:t>Synthetic probing of customer-facing business functions, on a schedule — independent of any single ticket.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60">
                <a:solidFill>
                  <a:srgbClr val="5B6B8F"/>
                </a:solidFill>
                <a:latin typeface="Consolas"/>
              </a:rPr>
              <a:t>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416552"/>
            <a:ext cx="1821484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416552"/>
            <a:ext cx="182148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business_service_catalog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69564" y="4426712"/>
            <a:ext cx="1322222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69564" y="4426712"/>
            <a:ext cx="132222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service_endpoints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3866" y="4416552"/>
            <a:ext cx="1108252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23866" y="4416552"/>
            <a:ext cx="11082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tenant_metrics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46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60">
                <a:solidFill>
                  <a:srgbClr val="5B6B8F"/>
                </a:solidFill>
                <a:latin typeface="Consolas"/>
              </a:rPr>
              <a:t>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828032"/>
            <a:ext cx="1036929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4828032"/>
            <a:ext cx="103692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health_status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25649" y="4828032"/>
            <a:ext cx="1322222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25649" y="4828032"/>
            <a:ext cx="132222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degraded_services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8991" y="5214112"/>
            <a:ext cx="1179576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1" y="5214112"/>
            <a:ext cx="11795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customer_impact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60520" y="502920"/>
            <a:ext cx="7528255" cy="141732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160520" y="502920"/>
            <a:ext cx="7528255" cy="20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98264" y="685800"/>
            <a:ext cx="7052767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01  </a:t>
            </a:r>
            <a:r>
              <a:rPr sz="1050" b="0" i="0" spc="60">
                <a:solidFill>
                  <a:srgbClr val="45E0C4"/>
                </a:solidFill>
                <a:latin typeface="Consolas"/>
              </a:rPr>
              <a:t>WHAT IT IS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 i="0">
                <a:solidFill>
                  <a:srgbClr val="E9EEFB"/>
                </a:solidFill>
                <a:latin typeface="Segoe UI"/>
              </a:rPr>
              <a:t>SR01 continuously probes business functions that customers actually touch — login, checkout, payment, search — defined in a service catalog. It runs on a schedule or manual sweep, and again reactively just before L1 triage, reusing the latest snapshot rather than re-probing from scratch.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0520" y="2066544"/>
            <a:ext cx="7528255" cy="160020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160520" y="2066544"/>
            <a:ext cx="7528255" cy="20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98264" y="2249424"/>
            <a:ext cx="7052767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02  </a:t>
            </a:r>
            <a:r>
              <a:rPr sz="1050" b="0" i="0" spc="60">
                <a:solidFill>
                  <a:srgbClr val="45E0C4"/>
                </a:solidFill>
                <a:latin typeface="Consolas"/>
              </a:rPr>
              <a:t>THE USE CASE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 i="0">
                <a:solidFill>
                  <a:srgbClr val="E9EEFB"/>
                </a:solidFill>
                <a:latin typeface="Segoe UI"/>
              </a:rPr>
              <a:t>Catch a degraded checkout flow before the support queue fills with duplicate customer complaints. A YELLOW/RED reading opens a pending-approval incident candidate — it never auto-creates a real ticket unless tenant policy explicitly allows it.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3813048"/>
            <a:ext cx="7528255" cy="1737360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160520" y="3813048"/>
            <a:ext cx="7528255" cy="2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98264" y="3995928"/>
            <a:ext cx="705276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03  </a:t>
            </a:r>
            <a:r>
              <a:rPr sz="1050" b="0" i="0" spc="60">
                <a:solidFill>
                  <a:srgbClr val="F2A93B"/>
                </a:solidFill>
                <a:latin typeface="Consolas"/>
              </a:rPr>
              <a:t>ENTERPRISE REALITY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 i="0">
                <a:solidFill>
                  <a:srgbClr val="E9EEFB"/>
                </a:solidFill>
                <a:latin typeface="Segoe UI"/>
              </a:rPr>
              <a:t>The same role synthetic monitoring plays at any bank or retailer running Datadog Synthetics, Pingdom, or CloudWatch Synthetics — external probes hitting login and checkout every few minutes, catching an outage in seconds instead of waiting on the first angry customer.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5448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93192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2064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7552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06424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28655" y="2743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40">
                <a:solidFill>
                  <a:srgbClr val="5B6B8F"/>
                </a:solidFill>
                <a:latin typeface="Consolas"/>
              </a:rPr>
              <a:t>03 / 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2920"/>
            <a:ext cx="853135" cy="274320"/>
          </a:xfrm>
          <a:prstGeom prst="roundRect">
            <a:avLst>
              <a:gd name="adj" fmla="val 50000"/>
            </a:avLst>
          </a:prstGeom>
          <a:solidFill>
            <a:srgbClr val="16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"/>
            <a:ext cx="85313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spc="40">
                <a:solidFill>
                  <a:srgbClr val="45E0C4"/>
                </a:solidFill>
                <a:latin typeface="Consolas"/>
              </a:rPr>
              <a:t>L1 · SR02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93215" y="502920"/>
            <a:ext cx="2205532" cy="274320"/>
          </a:xfrm>
          <a:prstGeom prst="roundRect">
            <a:avLst>
              <a:gd name="adj" fmla="val 50000"/>
            </a:avLst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93215" y="502920"/>
            <a:ext cx="22055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spc="40">
                <a:solidFill>
                  <a:srgbClr val="5B6B8F"/>
                </a:solidFill>
                <a:latin typeface="Consolas"/>
              </a:rPr>
              <a:t>src/agents/subagents/l1.py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10058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6213A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 i="0">
                <a:solidFill>
                  <a:srgbClr val="45E0C4"/>
                </a:solidFill>
                <a:latin typeface="Segoe UI"/>
              </a:rPr>
              <a:t>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78308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 i="0">
                <a:solidFill>
                  <a:srgbClr val="E9EEFB"/>
                </a:solidFill>
                <a:latin typeface="Segoe UI Semibold"/>
              </a:rPr>
              <a:t>Proactive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i="0">
                <a:solidFill>
                  <a:srgbClr val="5B6B8F"/>
                </a:solidFill>
                <a:latin typeface="Consolas"/>
              </a:rPr>
              <a:t>“Tia”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2608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300" b="0" i="0">
                <a:solidFill>
                  <a:srgbClr val="93A2C4"/>
                </a:solidFill>
                <a:latin typeface="Segoe UI"/>
              </a:rPr>
              <a:t>Anomaly detection over metrics, alarms, logs, and behavior — baselined per service, never a false all-clear.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60">
                <a:solidFill>
                  <a:srgbClr val="5B6B8F"/>
                </a:solidFill>
                <a:latin typeface="Consolas"/>
              </a:rPr>
              <a:t>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416552"/>
            <a:ext cx="1108252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416552"/>
            <a:ext cx="11082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metric_history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96972" y="4416552"/>
            <a:ext cx="1322222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96972" y="4416552"/>
            <a:ext cx="132222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cloudwatch_alarms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10634" y="4416552"/>
            <a:ext cx="894283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10634" y="4416552"/>
            <a:ext cx="89428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recent_logs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46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60">
                <a:solidFill>
                  <a:srgbClr val="5B6B8F"/>
                </a:solidFill>
                <a:latin typeface="Consolas"/>
              </a:rPr>
              <a:t>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828032"/>
            <a:ext cx="1036929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4828032"/>
            <a:ext cx="103692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anomaly_score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25649" y="4828032"/>
            <a:ext cx="1179576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25649" y="4828032"/>
            <a:ext cx="11795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proactive_alert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8585" y="5254752"/>
            <a:ext cx="1179576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585" y="5254752"/>
            <a:ext cx="11795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baseline_status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60520" y="502920"/>
            <a:ext cx="7528255" cy="141732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160520" y="502920"/>
            <a:ext cx="7528255" cy="20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98264" y="685800"/>
            <a:ext cx="7052767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01  </a:t>
            </a:r>
            <a:r>
              <a:rPr sz="1050" b="0" i="0" spc="60">
                <a:solidFill>
                  <a:srgbClr val="45E0C4"/>
                </a:solidFill>
                <a:latin typeface="Consolas"/>
              </a:rPr>
              <a:t>WHAT IT IS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 i="0">
                <a:solidFill>
                  <a:srgbClr val="E9EEFB"/>
                </a:solidFill>
                <a:latin typeface="Segoe UI"/>
              </a:rPr>
              <a:t>SR02 scans metric history, CloudWatch alarms, recent logs, and user behavior on a rolling basis, building a per-service statistical baseline. An under-baselined service reports insufficient_data — it never fabricates a confident “all clear.”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0520" y="2066544"/>
            <a:ext cx="7528255" cy="160020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160520" y="2066544"/>
            <a:ext cx="7528255" cy="20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98264" y="2249424"/>
            <a:ext cx="7052767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02  </a:t>
            </a:r>
            <a:r>
              <a:rPr sz="1050" b="0" i="0" spc="60">
                <a:solidFill>
                  <a:srgbClr val="45E0C4"/>
                </a:solidFill>
                <a:latin typeface="Consolas"/>
              </a:rPr>
              <a:t>THE USE CASE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 i="0">
                <a:solidFill>
                  <a:srgbClr val="E9EEFB"/>
                </a:solidFill>
                <a:latin typeface="Segoe UI"/>
              </a:rPr>
              <a:t>Flag a disk-pressure or CPU-throttling trend while it's still a warning sign, not yet an outage — surfaced as a pending candidate for review, not an unattended auto-ticket, so normal traffic swings don't trigger alert fatigue.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60520" y="3813048"/>
            <a:ext cx="7528255" cy="1737360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160520" y="3813048"/>
            <a:ext cx="7528255" cy="2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98264" y="3995928"/>
            <a:ext cx="705276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03  </a:t>
            </a:r>
            <a:r>
              <a:rPr sz="1050" b="0" i="0" spc="60">
                <a:solidFill>
                  <a:srgbClr val="F2A93B"/>
                </a:solidFill>
                <a:latin typeface="Consolas"/>
              </a:rPr>
              <a:t>ENTERPRISE REALITY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 i="0">
                <a:solidFill>
                  <a:srgbClr val="E9EEFB"/>
                </a:solidFill>
                <a:latin typeface="Segoe UI"/>
              </a:rPr>
              <a:t>This is Dynatrace Davis AI, Splunk ITSI, or Datadog Watchdog territory — anomaly detection running across a production fleet, baselining what “normal” disk and CPU look like per service so a slow leak toward “disk full” gets caught before it takes payment processing down with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5448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93192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2064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7552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06424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28655" y="2743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40">
                <a:solidFill>
                  <a:srgbClr val="5B6B8F"/>
                </a:solidFill>
                <a:latin typeface="Consolas"/>
              </a:rPr>
              <a:t>04 / 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2920"/>
            <a:ext cx="853135" cy="274320"/>
          </a:xfrm>
          <a:prstGeom prst="roundRect">
            <a:avLst>
              <a:gd name="adj" fmla="val 50000"/>
            </a:avLst>
          </a:prstGeom>
          <a:solidFill>
            <a:srgbClr val="16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"/>
            <a:ext cx="85313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spc="40">
                <a:solidFill>
                  <a:srgbClr val="45E0C4"/>
                </a:solidFill>
                <a:latin typeface="Consolas"/>
              </a:rPr>
              <a:t>L1 · SR03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93215" y="502920"/>
            <a:ext cx="2205532" cy="274320"/>
          </a:xfrm>
          <a:prstGeom prst="roundRect">
            <a:avLst>
              <a:gd name="adj" fmla="val 50000"/>
            </a:avLst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93215" y="502920"/>
            <a:ext cx="22055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spc="40">
                <a:solidFill>
                  <a:srgbClr val="5B6B8F"/>
                </a:solidFill>
                <a:latin typeface="Consolas"/>
              </a:rPr>
              <a:t>src/agents/subagents/l1.py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10058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6213A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 i="0">
                <a:solidFill>
                  <a:srgbClr val="45E0C4"/>
                </a:solidFill>
                <a:latin typeface="Segoe UI"/>
              </a:rPr>
              <a:t>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78308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 i="0">
                <a:solidFill>
                  <a:srgbClr val="E9EEFB"/>
                </a:solidFill>
                <a:latin typeface="Segoe UI Semibold"/>
              </a:rPr>
              <a:t>Intelligent Chatbot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i="0">
                <a:solidFill>
                  <a:srgbClr val="5B6B8F"/>
                </a:solidFill>
                <a:latin typeface="Consolas"/>
              </a:rPr>
              <a:t>“Das”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2608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300" b="0" i="0">
                <a:solidFill>
                  <a:srgbClr val="93A2C4"/>
                </a:solidFill>
                <a:latin typeface="Segoe UI"/>
              </a:rPr>
              <a:t>Conversational self-service for password resets, unlocks, and FAQs — verified, never a dead end.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60">
                <a:solidFill>
                  <a:srgbClr val="5B6B8F"/>
                </a:solidFill>
                <a:latin typeface="Consolas"/>
              </a:rPr>
              <a:t>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416552"/>
            <a:ext cx="965606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416552"/>
            <a:ext cx="96560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user_request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54326" y="4416552"/>
            <a:ext cx="1250899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54326" y="4416552"/>
            <a:ext cx="125089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identity_context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46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60">
                <a:solidFill>
                  <a:srgbClr val="5B6B8F"/>
                </a:solidFill>
                <a:latin typeface="Consolas"/>
              </a:rPr>
              <a:t>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828032"/>
            <a:ext cx="1750161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4828032"/>
            <a:ext cx="175016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self_service_resolution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0241" y="5203952"/>
            <a:ext cx="1607515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20241" y="5203952"/>
            <a:ext cx="16075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escalation_ticket_ref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502920"/>
            <a:ext cx="7528255" cy="141732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60520" y="502920"/>
            <a:ext cx="7528255" cy="20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98264" y="685800"/>
            <a:ext cx="7052767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01  </a:t>
            </a:r>
            <a:r>
              <a:rPr sz="1050" b="0" i="0" spc="60">
                <a:solidFill>
                  <a:srgbClr val="45E0C4"/>
                </a:solidFill>
                <a:latin typeface="Consolas"/>
              </a:rPr>
              <a:t>WHAT IT IS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 i="0">
                <a:solidFill>
                  <a:srgbClr val="E9EEFB"/>
                </a:solidFill>
                <a:latin typeface="Segoe UI"/>
              </a:rPr>
              <a:t>SR03 holds a real back-and-forth conversation for the highest-volume L1 requests: password resets, account unlocks, FAQs. It verifies the requester with a one-time code before touching any account, answers from a knowledge base with citations, and turns anything it can't safely finish into a normal ticket — never a dead end.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2066544"/>
            <a:ext cx="7528255" cy="160020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60520" y="2066544"/>
            <a:ext cx="7528255" cy="20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98264" y="2249424"/>
            <a:ext cx="7052767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02  </a:t>
            </a:r>
            <a:r>
              <a:rPr sz="1050" b="0" i="0" spc="60">
                <a:solidFill>
                  <a:srgbClr val="45E0C4"/>
                </a:solidFill>
                <a:latin typeface="Consolas"/>
              </a:rPr>
              <a:t>THE USE CASE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 i="0">
                <a:solidFill>
                  <a:srgbClr val="E9EEFB"/>
                </a:solidFill>
                <a:latin typeface="Segoe UI"/>
              </a:rPr>
              <a:t>Deflect the requests that dominate helpdesk volume in almost every enterprise — identity issues — away from a human agent entirely, while guaranteeing a P1 identity case or anything out-of-scope always reaches a person.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3813048"/>
            <a:ext cx="7528255" cy="1737360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160520" y="3813048"/>
            <a:ext cx="7528255" cy="2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98264" y="3995928"/>
            <a:ext cx="705276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03  </a:t>
            </a:r>
            <a:r>
              <a:rPr sz="1050" b="0" i="0" spc="60">
                <a:solidFill>
                  <a:srgbClr val="F2A93B"/>
                </a:solidFill>
                <a:latin typeface="Consolas"/>
              </a:rPr>
              <a:t>ENTERPRISE REALITY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 i="0">
                <a:solidFill>
                  <a:srgbClr val="E9EEFB"/>
                </a:solidFill>
                <a:latin typeface="Segoe UI"/>
              </a:rPr>
              <a:t>Same pattern as ServiceNow Virtual Agent, Moveworks, or a Copilot-style service-desk bot in a large enterprise: MFA-gated self-service for the routine 30–50% of ticket volume that password/account issues typically represent, with rate limiting and PII-masked transcripts.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5448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93192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2064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7552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06424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28655" y="2743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40">
                <a:solidFill>
                  <a:srgbClr val="5B6B8F"/>
                </a:solidFill>
                <a:latin typeface="Consolas"/>
              </a:rPr>
              <a:t>05 / 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2920"/>
            <a:ext cx="853135" cy="274320"/>
          </a:xfrm>
          <a:prstGeom prst="roundRect">
            <a:avLst>
              <a:gd name="adj" fmla="val 50000"/>
            </a:avLst>
          </a:prstGeom>
          <a:solidFill>
            <a:srgbClr val="16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"/>
            <a:ext cx="85313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spc="40">
                <a:solidFill>
                  <a:srgbClr val="45E0C4"/>
                </a:solidFill>
                <a:latin typeface="Consolas"/>
              </a:rPr>
              <a:t>L1 · SR04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93215" y="502920"/>
            <a:ext cx="2205532" cy="274320"/>
          </a:xfrm>
          <a:prstGeom prst="roundRect">
            <a:avLst>
              <a:gd name="adj" fmla="val 50000"/>
            </a:avLst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93215" y="502920"/>
            <a:ext cx="22055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spc="40">
                <a:solidFill>
                  <a:srgbClr val="5B6B8F"/>
                </a:solidFill>
                <a:latin typeface="Consolas"/>
              </a:rPr>
              <a:t>src/agents/subagents/l1.py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10058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6213A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 i="0">
                <a:solidFill>
                  <a:srgbClr val="45E0C4"/>
                </a:solidFill>
                <a:latin typeface="Segoe UI"/>
              </a:rPr>
              <a:t>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78308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 i="0">
                <a:solidFill>
                  <a:srgbClr val="E9EEFB"/>
                </a:solidFill>
                <a:latin typeface="Segoe UI Semibold"/>
              </a:rPr>
              <a:t>Basic Log Correlation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i="0">
                <a:solidFill>
                  <a:srgbClr val="5B6B8F"/>
                </a:solidFill>
                <a:latin typeface="Consolas"/>
              </a:rPr>
              <a:t>“Arid”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2608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300" b="0" i="0">
                <a:solidFill>
                  <a:srgbClr val="93A2C4"/>
                </a:solidFill>
                <a:latin typeface="Segoe UI"/>
              </a:rPr>
              <a:t>Rule-scored, read-only correlation — refuses to name a symptom as the cause.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60">
                <a:solidFill>
                  <a:srgbClr val="5B6B8F"/>
                </a:solidFill>
                <a:latin typeface="Consolas"/>
              </a:rPr>
              <a:t>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416552"/>
            <a:ext cx="1036929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416552"/>
            <a:ext cx="103692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incident_logs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25649" y="4416552"/>
            <a:ext cx="1108252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25649" y="4416552"/>
            <a:ext cx="11082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related_events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46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60">
                <a:solidFill>
                  <a:srgbClr val="5B6B8F"/>
                </a:solidFill>
                <a:latin typeface="Consolas"/>
              </a:rPr>
              <a:t>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828032"/>
            <a:ext cx="1179576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4828032"/>
            <a:ext cx="117957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suspected_cause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68296" y="4828032"/>
            <a:ext cx="965606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68296" y="4828032"/>
            <a:ext cx="96560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causal_chain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39342" y="5244592"/>
            <a:ext cx="1393545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39342" y="5244592"/>
            <a:ext cx="139354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correlation_status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60520" y="502920"/>
            <a:ext cx="7528255" cy="141732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160520" y="502920"/>
            <a:ext cx="7528255" cy="20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98264" y="685800"/>
            <a:ext cx="7052767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01  </a:t>
            </a:r>
            <a:r>
              <a:rPr sz="1050" b="0" i="0" spc="60">
                <a:solidFill>
                  <a:srgbClr val="45E0C4"/>
                </a:solidFill>
                <a:latin typeface="Consolas"/>
              </a:rPr>
              <a:t>WHAT IT IS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 i="0">
                <a:solidFill>
                  <a:srgbClr val="E9EEFB"/>
                </a:solidFill>
                <a:latin typeface="Segoe UI"/>
              </a:rPr>
              <a:t>SR04 correlates a window of incident log lines into a causal chain and names one most-likely root cause — by scoring rules, never an LLM decision. It's read-only: no executor calls, no identity-provider calls, ever.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60520" y="2066544"/>
            <a:ext cx="7528255" cy="160020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160520" y="2066544"/>
            <a:ext cx="7528255" cy="20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98264" y="2249424"/>
            <a:ext cx="7052767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02  </a:t>
            </a:r>
            <a:r>
              <a:rPr sz="1050" b="0" i="0" spc="60">
                <a:solidFill>
                  <a:srgbClr val="45E0C4"/>
                </a:solidFill>
                <a:latin typeface="Consolas"/>
              </a:rPr>
              <a:t>THE USE CASE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 i="0">
                <a:solidFill>
                  <a:srgbClr val="E9EEFB"/>
                </a:solidFill>
                <a:latin typeface="Segoe UI"/>
              </a:rPr>
              <a:t>Hand an L1/L2 engineer a likely root cause the moment a ticket opens — “connection pool exhausted” is downstream of “too many connections on postgres-primary,” not the cause of it — instead of them grepping five services' logs by hand.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3813048"/>
            <a:ext cx="7528255" cy="1737360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160520" y="3813048"/>
            <a:ext cx="7528255" cy="2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98264" y="3995928"/>
            <a:ext cx="705276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03  </a:t>
            </a:r>
            <a:r>
              <a:rPr sz="1050" b="0" i="0" spc="60">
                <a:solidFill>
                  <a:srgbClr val="F2A93B"/>
                </a:solidFill>
                <a:latin typeface="Consolas"/>
              </a:rPr>
              <a:t>ENTERPRISE REALITY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 i="0">
                <a:solidFill>
                  <a:srgbClr val="E9EEFB"/>
                </a:solidFill>
                <a:latin typeface="Segoe UI"/>
              </a:rPr>
              <a:t>The role Datadog Watchdog RCA, PagerDuty Event Intelligence, or Dynatrace's causal engine plays at scale: cutting mean-time-to-diagnose from the 20–30 minutes of manual log correlation common in a large incident down to near-real-time, with a bounded rule-based design auditable enough for a regulated bank's change-control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55448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93192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2064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7552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064240" y="320040"/>
            <a:ext cx="27432" cy="27432"/>
          </a:xfrm>
          <a:prstGeom prst="roundRect">
            <a:avLst>
              <a:gd name="adj" fmla="val 100000"/>
            </a:avLst>
          </a:prstGeom>
          <a:solidFill>
            <a:srgbClr val="1B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28655" y="2743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spc="40">
                <a:solidFill>
                  <a:srgbClr val="5B6B8F"/>
                </a:solidFill>
                <a:latin typeface="Consolas"/>
              </a:rPr>
              <a:t>06 / 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2920"/>
            <a:ext cx="853135" cy="274320"/>
          </a:xfrm>
          <a:prstGeom prst="roundRect">
            <a:avLst>
              <a:gd name="adj" fmla="val 50000"/>
            </a:avLst>
          </a:prstGeom>
          <a:solidFill>
            <a:srgbClr val="16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"/>
            <a:ext cx="85313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spc="40">
                <a:solidFill>
                  <a:srgbClr val="45E0C4"/>
                </a:solidFill>
                <a:latin typeface="Consolas"/>
              </a:rPr>
              <a:t>L1 · SR05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93215" y="502920"/>
            <a:ext cx="2205532" cy="274320"/>
          </a:xfrm>
          <a:prstGeom prst="roundRect">
            <a:avLst>
              <a:gd name="adj" fmla="val 50000"/>
            </a:avLst>
          </a:prstGeom>
          <a:solidFill>
            <a:srgbClr val="0A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93215" y="502920"/>
            <a:ext cx="22055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 i="0" spc="40">
                <a:solidFill>
                  <a:srgbClr val="5B6B8F"/>
                </a:solidFill>
                <a:latin typeface="Consolas"/>
              </a:rPr>
              <a:t>src/agents/subagents/l1.py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10058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6213A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 i="0">
                <a:solidFill>
                  <a:srgbClr val="45E0C4"/>
                </a:solidFill>
                <a:latin typeface="Segoe UI"/>
              </a:rPr>
              <a:t>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78308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 i="0">
                <a:solidFill>
                  <a:srgbClr val="E9EEFB"/>
                </a:solidFill>
                <a:latin typeface="Segoe UI Semibold"/>
              </a:rPr>
              <a:t>Auto-Remediation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i="0">
                <a:solidFill>
                  <a:srgbClr val="5B6B8F"/>
                </a:solidFill>
                <a:latin typeface="Consolas"/>
              </a:rPr>
              <a:t>“Tid”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2608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sz="1300" b="0" i="0">
                <a:solidFill>
                  <a:srgbClr val="93A2C4"/>
                </a:solidFill>
                <a:latin typeface="Segoe UI"/>
              </a:rPr>
              <a:t>Known-pattern fixes first, AI fallback clamped to a safe allow-list, DRY_RUN until autonomy is promoted.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60">
                <a:solidFill>
                  <a:srgbClr val="5B6B8F"/>
                </a:solidFill>
                <a:latin typeface="Consolas"/>
              </a:rPr>
              <a:t>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416552"/>
            <a:ext cx="1108252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416552"/>
            <a:ext cx="11082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known_patterns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96972" y="4416552"/>
            <a:ext cx="1250899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96972" y="4416552"/>
            <a:ext cx="125089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incident_context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46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spc="60">
                <a:solidFill>
                  <a:srgbClr val="5B6B8F"/>
                </a:solidFill>
                <a:latin typeface="Consolas"/>
              </a:rPr>
              <a:t>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828032"/>
            <a:ext cx="1393545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4828032"/>
            <a:ext cx="139354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remediation_action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82265" y="4828032"/>
            <a:ext cx="1322222" cy="274320"/>
          </a:xfrm>
          <a:prstGeom prst="roundRect">
            <a:avLst>
              <a:gd name="adj" fmla="val 25000"/>
            </a:avLst>
          </a:prstGeom>
          <a:solidFill>
            <a:srgbClr val="111A2C"/>
          </a:solidFill>
          <a:ln w="9525">
            <a:solidFill>
              <a:srgbClr val="253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82265" y="4828032"/>
            <a:ext cx="132222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3A2C4"/>
                </a:solidFill>
                <a:latin typeface="Consolas"/>
              </a:rPr>
              <a:t>resolution_status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34924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050" b="0" i="0">
                <a:solidFill>
                  <a:srgbClr val="F2A93B"/>
                </a:solidFill>
                <a:latin typeface="Consolas"/>
              </a:rPr>
              <a:t>●  </a:t>
            </a:r>
            <a:r>
              <a:rPr sz="1050" b="0" i="0">
                <a:solidFill>
                  <a:srgbClr val="5B6B8F"/>
                </a:solidFill>
                <a:latin typeface="Consolas"/>
              </a:rPr>
              <a:t>P1 &amp; security categories: automation never exposed, regardless of pattern match.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502920"/>
            <a:ext cx="7528255" cy="141732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60520" y="502920"/>
            <a:ext cx="7528255" cy="20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98264" y="685800"/>
            <a:ext cx="7052767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01  </a:t>
            </a:r>
            <a:r>
              <a:rPr sz="1050" b="0" i="0" spc="60">
                <a:solidFill>
                  <a:srgbClr val="45E0C4"/>
                </a:solidFill>
                <a:latin typeface="Consolas"/>
              </a:rPr>
              <a:t>WHAT IT IS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 i="0">
                <a:solidFill>
                  <a:srgbClr val="E9EEFB"/>
                </a:solidFill>
                <a:latin typeface="Segoe UI"/>
              </a:rPr>
              <a:t>SR05 attempts safe automated fixes for known repetitive issues — checking a fixed pattern catalog first, and only consulting an AI fallback if nothing matches. Any AI-suggested action is clamped in code to a safe allow-list before it can run. Execution defaults to DRY_RUN until a tenant explicitly promotes autonomy.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60520" y="2066544"/>
            <a:ext cx="7528255" cy="160020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160520" y="2066544"/>
            <a:ext cx="7528255" cy="20000"/>
          </a:xfrm>
          <a:prstGeom prst="rect">
            <a:avLst/>
          </a:prstGeom>
          <a:solidFill>
            <a:srgbClr val="4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98264" y="2249424"/>
            <a:ext cx="7052767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02  </a:t>
            </a:r>
            <a:r>
              <a:rPr sz="1050" b="0" i="0" spc="60">
                <a:solidFill>
                  <a:srgbClr val="45E0C4"/>
                </a:solidFill>
                <a:latin typeface="Consolas"/>
              </a:rPr>
              <a:t>THE USE CASE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 i="0">
                <a:solidFill>
                  <a:srgbClr val="E9EEFB"/>
                </a:solidFill>
                <a:latin typeface="Segoe UI"/>
              </a:rPr>
              <a:t>Recycle an unhealthy load-balancer target, clear a stale cache, restart a stuck worker — the fix an on-call engineer would apply by hand for a recurring, well-understood issue — without waking anyone up for it.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0520" y="3813048"/>
            <a:ext cx="7528255" cy="1737360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160520" y="3813048"/>
            <a:ext cx="7528255" cy="2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98264" y="3995928"/>
            <a:ext cx="705276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50" b="0" i="0" spc="60">
                <a:solidFill>
                  <a:srgbClr val="5B6B8F"/>
                </a:solidFill>
                <a:latin typeface="Consolas"/>
              </a:rPr>
              <a:t>03  </a:t>
            </a:r>
            <a:r>
              <a:rPr sz="1050" b="0" i="0" spc="60">
                <a:solidFill>
                  <a:srgbClr val="F2A93B"/>
                </a:solidFill>
                <a:latin typeface="Consolas"/>
              </a:rPr>
              <a:t>ENTERPRISE REALITY</a:t>
            </a:r>
          </a:p>
          <a:p>
            <a:pPr>
              <a:lnSpc>
                <a:spcPct val="122000"/>
              </a:lnSpc>
              <a:spcBef>
                <a:spcPts val="400"/>
              </a:spcBef>
            </a:pPr>
            <a:r>
              <a:rPr sz="1250" b="0" i="0">
                <a:solidFill>
                  <a:srgbClr val="E9EEFB"/>
                </a:solidFill>
                <a:latin typeface="Segoe UI"/>
              </a:rPr>
              <a:t>The self-healing layer AWS Systems Manager Automation, Rundeck, or PagerDuty auto-remediation runbooks provide for mature SRE orgs: automation for the boring, repetitive majority of incidents, with guardrails a regulated enterprise demands.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11</cp:revision>
  <dcterms:created xsi:type="dcterms:W3CDTF">2013-01-27T09:14:16Z</dcterms:created>
  <dcterms:modified xsi:type="dcterms:W3CDTF">2026-08-17T13:28:36Z</dcterms:modified>
  <cp:category/>
</cp:coreProperties>
</file>